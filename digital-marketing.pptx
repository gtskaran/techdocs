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61" r:id="rId4"/>
    <p:sldId id="258" r:id="rId5"/>
    <p:sldId id="259" r:id="rId6"/>
    <p:sldId id="263" r:id="rId7"/>
    <p:sldId id="260"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280" r:id="rId25"/>
    <p:sldId id="28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77143" autoAdjust="0"/>
  </p:normalViewPr>
  <p:slideViewPr>
    <p:cSldViewPr>
      <p:cViewPr varScale="1">
        <p:scale>
          <a:sx n="55" d="100"/>
          <a:sy n="55" d="100"/>
        </p:scale>
        <p:origin x="-180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416BEC-5FB9-4526-A4B0-BAD6DB5671AD}" type="datetimeFigureOut">
              <a:rPr lang="en-US" smtClean="0"/>
              <a:pPr/>
              <a:t>2/20/2026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227D3B-2287-49FE-BA04-CEB317E1ED2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 Website Marketing: A website is the </a:t>
            </a:r>
            <a:r>
              <a:rPr lang="en-US" dirty="0" err="1" smtClean="0"/>
              <a:t>centrepiece</a:t>
            </a:r>
            <a:r>
              <a:rPr lang="en-US" dirty="0" smtClean="0"/>
              <a:t> of all digital marketing activities. It is a very powerful channel on its own, but it’s also the medium needed to execute a variety of online marketing campaigns. A website should represent a brand, product, and service in a clear and memorable way. It should be fast, </a:t>
            </a:r>
            <a:r>
              <a:rPr lang="en-US" dirty="0" err="1" smtClean="0"/>
              <a:t>mobilefriendly</a:t>
            </a:r>
            <a:r>
              <a:rPr lang="en-US" dirty="0" smtClean="0"/>
              <a:t>, and easy to use.</a:t>
            </a:r>
          </a:p>
          <a:p>
            <a:endParaRPr lang="en-US" dirty="0" smtClean="0"/>
          </a:p>
          <a:p>
            <a:r>
              <a:rPr lang="en-US" dirty="0" smtClean="0"/>
              <a:t>• Pay-Per-Click (PPC): Advertising Pay-per-click (PPC) advertising enables marketers to reach Internet users on a number of digital platforms through paid ads. Marketers can set up PPC campaigns on Google, Bing, LinkedIn, Twitter, </a:t>
            </a:r>
            <a:r>
              <a:rPr lang="en-US" dirty="0" err="1" smtClean="0"/>
              <a:t>Pinterest</a:t>
            </a:r>
            <a:r>
              <a:rPr lang="en-US" dirty="0" smtClean="0"/>
              <a:t>, or </a:t>
            </a:r>
            <a:r>
              <a:rPr lang="en-US" dirty="0" err="1" smtClean="0"/>
              <a:t>Facebook</a:t>
            </a:r>
            <a:r>
              <a:rPr lang="en-US" dirty="0" smtClean="0"/>
              <a:t> and show their ads to people searching for terms related to the products or services. PPC campaigns can segment users based on their demographic characteristics (such as by age or gender), or even target their particular interests or location. The most popular PPC platforms are Google Ads and </a:t>
            </a:r>
            <a:r>
              <a:rPr lang="en-US" dirty="0" err="1" smtClean="0"/>
              <a:t>Facebook</a:t>
            </a:r>
            <a:r>
              <a:rPr lang="en-US" dirty="0" smtClean="0"/>
              <a:t> Ads. </a:t>
            </a:r>
          </a:p>
          <a:p>
            <a:endParaRPr lang="en-US" dirty="0" smtClean="0"/>
          </a:p>
          <a:p>
            <a:r>
              <a:rPr lang="en-US" dirty="0" smtClean="0"/>
              <a:t>• Content Marketing: The goal of content marketing is to reach potential customers through the use of content. Content is usually published on a website and then promoted through social media, email marketing, search engine optimization, or even PPC campaigns. The tools of content marketing include blogs, eBooks, online courses, info graphics, podcasts, and webinars.</a:t>
            </a:r>
          </a:p>
          <a:p>
            <a:endParaRPr lang="en-US" dirty="0" smtClean="0"/>
          </a:p>
          <a:p>
            <a:r>
              <a:rPr lang="en-US" dirty="0" smtClean="0"/>
              <a:t>• Email Marketing: Email marketing is still one of the most effective digital marketing channels. Many people confuse email marketing with spam email messages, but that’s not what email marketing is all about. This type of marketing allows companies to get in touch with potential customers and anyone interested in their brands. Many digital marketers use all other digital marketing channels to add leads to their email lists and then, through email marketing, they create customer acquisition funnels to turn those leads into customers. </a:t>
            </a:r>
          </a:p>
          <a:p>
            <a:endParaRPr lang="en-US" dirty="0" smtClean="0"/>
          </a:p>
          <a:p>
            <a:r>
              <a:rPr lang="en-US" dirty="0" smtClean="0"/>
              <a:t>• Social Media Marketing: The primary goal of a social media marketing campaign is brand awareness and establishing social trust. As you go deeper into social media marketing, you can use it to get leads or even as a direct sales channel. Promoted posts and tweets are two examples of social media marketing. </a:t>
            </a:r>
          </a:p>
          <a:p>
            <a:endParaRPr lang="en-US" dirty="0" smtClean="0"/>
          </a:p>
          <a:p>
            <a:r>
              <a:rPr lang="en-US" dirty="0" smtClean="0"/>
              <a:t>• Affiliate Marketing: Affiliate marketing is one of the oldest forms of marketing, and the internet has brought new life to this old standby. With affiliate marketing, influencers promote other people’s products and get a commission every time a sale is made or a lead is introduced. Many well-known companies like Amazon have affiliate programs that pay out millions of dollars per month to websites that sell their products.</a:t>
            </a:r>
          </a:p>
          <a:p>
            <a:endParaRPr lang="en-US" dirty="0" smtClean="0"/>
          </a:p>
          <a:p>
            <a:r>
              <a:rPr lang="en-US" dirty="0" smtClean="0"/>
              <a:t>• Video Marketing: YouTube is one of the most popular search engines in the world. A lot of users are turning to YouTube before making a buying decision, to learn something, read a review, or just to relax. There are several video marketing platforms, including </a:t>
            </a:r>
            <a:r>
              <a:rPr lang="en-US" dirty="0" err="1" smtClean="0"/>
              <a:t>Facebook</a:t>
            </a:r>
            <a:r>
              <a:rPr lang="en-US" dirty="0" smtClean="0"/>
              <a:t> Videos, </a:t>
            </a:r>
            <a:r>
              <a:rPr lang="en-US" dirty="0" err="1" smtClean="0"/>
              <a:t>Instagram</a:t>
            </a:r>
            <a:r>
              <a:rPr lang="en-US" dirty="0" smtClean="0"/>
              <a:t>, and even </a:t>
            </a:r>
            <a:r>
              <a:rPr lang="en-US" dirty="0" err="1" smtClean="0"/>
              <a:t>TikTok</a:t>
            </a:r>
            <a:r>
              <a:rPr lang="en-US" dirty="0" smtClean="0"/>
              <a:t> to use to run a video marketing campaign. Companies find the most success with video by integrating it with SEO, content marketing, and broader social media marketing campaigns. </a:t>
            </a:r>
          </a:p>
          <a:p>
            <a:endParaRPr lang="en-US" dirty="0" smtClean="0"/>
          </a:p>
          <a:p>
            <a:r>
              <a:rPr lang="en-US" dirty="0" smtClean="0"/>
              <a:t>• SMS Messaging: Companies and nonprofit organizations also use SMS or text messages to send information about their latest promotions or give opportunities to willing customers. Political candidates running for office also use SMS message campaigns to spread positive information about their own platforms. As technology has advanced, many text-to-give campaigns also allow customers to directly pay or give via a simple text message. </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5</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Quality Company Website: What was a novelty a mere decade ago is a critical requirement today. A business website is a pseudo B2B portal, allowing businesses and customers from around the world to connect with you. A business website is similar to your Company brochure, available 24×7, and projects you as a professional outfit. </a:t>
            </a:r>
          </a:p>
          <a:p>
            <a:endParaRPr lang="en-US" dirty="0" smtClean="0"/>
          </a:p>
          <a:p>
            <a:r>
              <a:rPr lang="en-US" dirty="0" smtClean="0"/>
              <a:t>Social Media Presence: The biggest achievement of this digital era has been the ease with which people have learnt to communicate- Social Media websites like </a:t>
            </a:r>
            <a:r>
              <a:rPr lang="en-US" dirty="0" err="1" smtClean="0"/>
              <a:t>Facebook</a:t>
            </a:r>
            <a:r>
              <a:rPr lang="en-US" dirty="0" smtClean="0"/>
              <a:t>, Twitter, Google+, </a:t>
            </a:r>
            <a:r>
              <a:rPr lang="en-US" dirty="0" err="1" smtClean="0"/>
              <a:t>Pinterest</a:t>
            </a:r>
            <a:r>
              <a:rPr lang="en-US" dirty="0" smtClean="0"/>
              <a:t>, YouTube etc. are the latest methods to communicate across wide demographics of age, taste and culture. By actively promoting your company on these social media, you are getting the world to talk about you. </a:t>
            </a:r>
          </a:p>
          <a:p>
            <a:endParaRPr lang="en-US" dirty="0" smtClean="0"/>
          </a:p>
          <a:p>
            <a:r>
              <a:rPr lang="en-US" dirty="0" smtClean="0"/>
              <a:t>Blogging and Forums: Here is a powerful axiom- 'Content is King'. Produce powerful, genuine and compelling content as part of your Company blog. Be a regular on relevant forums and discussion panels. Learn the art of connecting your business themes into the content that you produce. In time, your content will stand up to be the biggest promoter of your brand. </a:t>
            </a:r>
          </a:p>
          <a:p>
            <a:endParaRPr lang="en-US" dirty="0" smtClean="0"/>
          </a:p>
          <a:p>
            <a:r>
              <a:rPr lang="en-US" dirty="0" smtClean="0"/>
              <a:t>List your business on the three biggest listing services: Register your business on 'Google Places'- this allows your business to feature on Google searches and be listed on Google Maps. Other business databases that you must be part of include 'Yahoo! Local' and Microsoft's 'Bing'.</a:t>
            </a:r>
          </a:p>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6</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Digital Marketing Trends </a:t>
            </a:r>
          </a:p>
          <a:p>
            <a:pPr marL="228600" indent="-228600">
              <a:buAutoNum type="arabicPeriod"/>
            </a:pPr>
            <a:r>
              <a:rPr lang="en-US" dirty="0" smtClean="0"/>
              <a:t>Influencer Marketing Influencer marketing is the practice of using an influencer’s image and goodwill to promote and advertise a brand’s product or services. Influencers can be individuals or groups with a massive fan following. Here are some of the reasons why influencer marketing has gained momentum in the current business milieu: • Persuades audience: Influencers have a loyal </a:t>
            </a:r>
            <a:r>
              <a:rPr lang="en-US" dirty="0" err="1" smtClean="0"/>
              <a:t>fanbase</a:t>
            </a:r>
            <a:r>
              <a:rPr lang="en-US" dirty="0" smtClean="0"/>
              <a:t>, meaning they can sway the audiences in a jiffy. Many brands opt for influencer marketing to attract a diverse set of audiences to their products. • Increases trust: Influencers use social media applications to promote or advertise products or services. Therefore, many brands opt for influencer marketing to increase brand awareness and amplify their social media presence. • Supports content strategy: Influencer marketing is best suited for filling the gaps in content marketing strategy. </a:t>
            </a:r>
          </a:p>
          <a:p>
            <a:pPr marL="228600" indent="-228600">
              <a:buAutoNum type="arabicPeriod"/>
            </a:pPr>
            <a:endParaRPr lang="en-US" dirty="0" smtClean="0"/>
          </a:p>
          <a:p>
            <a:pPr marL="228600" indent="-228600">
              <a:buAutoNum type="arabicPeriod"/>
            </a:pPr>
            <a:r>
              <a:rPr lang="en-US" dirty="0" smtClean="0"/>
              <a:t>Omni channel Marketing Omni channel marketing is believed to be one of the most effective ways to reach the target audience. It is an approach that stands true to the definition of digital marketing – using different digital mediums to promote, engage, and serve customers. </a:t>
            </a:r>
            <a:r>
              <a:rPr lang="en-US" dirty="0" err="1" smtClean="0"/>
              <a:t>Omnichannel</a:t>
            </a:r>
            <a:r>
              <a:rPr lang="en-US" dirty="0" smtClean="0"/>
              <a:t> marketing offers a varied set of benefits, which are as follows: • Attracting new customers and market segments • Engaging customers after sales • Increasing trust and loyalty of customers • Boosting sales and customer satisfaction • Helps understand customer demand and needs </a:t>
            </a:r>
            <a:r>
              <a:rPr lang="en-US" dirty="0" err="1" smtClean="0"/>
              <a:t>Omnichannel</a:t>
            </a:r>
            <a:r>
              <a:rPr lang="en-US" dirty="0" smtClean="0"/>
              <a:t> marketing is widely used in retail, entertainment, food service, business, and other industries. </a:t>
            </a:r>
          </a:p>
          <a:p>
            <a:pPr marL="228600" indent="-228600">
              <a:buAutoNum type="arabicPeriod"/>
            </a:pPr>
            <a:endParaRPr lang="en-US" dirty="0" smtClean="0"/>
          </a:p>
          <a:p>
            <a:pPr marL="228600" indent="-228600">
              <a:buAutoNum type="arabicPeriod"/>
            </a:pPr>
            <a:r>
              <a:rPr lang="en-US" dirty="0" smtClean="0"/>
              <a:t>Artificial Intelligence Artificial intelligence (AI) is the process of developing smart computer systems that can perform similar functions to the human brain. Companies can use AI to gauge the needs and demands of their customers. Simultaneously, it can be used to find out patterns in customer buying </a:t>
            </a:r>
            <a:r>
              <a:rPr lang="en-US" dirty="0" err="1" smtClean="0"/>
              <a:t>behaviour</a:t>
            </a:r>
            <a:r>
              <a:rPr lang="en-US" dirty="0" smtClean="0"/>
              <a:t>, monitor and offer a solution to formulate a marketing strategy. Moreover, AI applications like machine learning, deep learning, and others can be used for various customer and marketing-related activities – including content creation, ad monitoring, promoting products, interacting with customers, and more. Therefore, as a digital marketing trend, AI is a boon for companies looking to level up their advertising game.</a:t>
            </a:r>
          </a:p>
          <a:p>
            <a:pPr marL="228600" indent="-228600">
              <a:buAutoNum type="arabicPeriod"/>
            </a:pPr>
            <a:endParaRPr lang="en-US" dirty="0" smtClean="0"/>
          </a:p>
          <a:p>
            <a:pPr marL="228600" indent="-228600">
              <a:buAutoNum type="arabicPeriod"/>
            </a:pPr>
            <a:r>
              <a:rPr lang="en-US" dirty="0" smtClean="0"/>
              <a:t>Video Marketing: Social media platforms have offered a new space for companies to promote their products or services to their target audience. Video marketing is a potent digital marketing tool popular among businesses trying to increase their customer base. Experts believe that videos are more effective than any other form of content; that’s why many brands are shifting their focus to developing content-rich and enthralling videos to promote their products or services. Similarly, social media applications like </a:t>
            </a:r>
            <a:r>
              <a:rPr lang="en-US" dirty="0" err="1" smtClean="0"/>
              <a:t>Instagram</a:t>
            </a:r>
            <a:r>
              <a:rPr lang="en-US" dirty="0" smtClean="0"/>
              <a:t>, YouTube, </a:t>
            </a:r>
            <a:r>
              <a:rPr lang="en-US" dirty="0" err="1" smtClean="0"/>
              <a:t>Facebook</a:t>
            </a:r>
            <a:r>
              <a:rPr lang="en-US" dirty="0" smtClean="0"/>
              <a:t>, and others have also integrated short-form content into their algorithms, helping brands proliferate to their target audience. Therefore, brands looking to increase their customer base can opt for video marketing as their promotional strategy.</a:t>
            </a:r>
          </a:p>
          <a:p>
            <a:pPr marL="228600" indent="-228600">
              <a:buAutoNum type="arabicPeriod"/>
            </a:pPr>
            <a:endParaRPr lang="en-US" dirty="0" smtClean="0"/>
          </a:p>
          <a:p>
            <a:pPr marL="228600" indent="-228600">
              <a:buAutoNum type="arabicPeriod"/>
            </a:pPr>
            <a:r>
              <a:rPr lang="en-US" dirty="0" smtClean="0"/>
              <a:t>Long-form Content: Content marketing is a popular digital marketing trend using which companies often promote their product or services. Similarly, long-form content is the </a:t>
            </a:r>
            <a:r>
              <a:rPr lang="en-US" dirty="0" err="1" smtClean="0"/>
              <a:t>subsect</a:t>
            </a:r>
            <a:r>
              <a:rPr lang="en-US" dirty="0" smtClean="0"/>
              <a:t> of content marketing that consists of blog posts or articles of more than 3000 words to promote a product or service. Companies create long-form content intending to increase their visibility, industry expertise, and customer engagement. In addition to this, here are some other reasons why businesses opt for long-form content: • Increases traffic on the website More people visit the company’s website due to the long-form content’s popularity. However, people are less likely to explore more products and services of the brand. • High ranking on search engine Search engine ranking and website traffic have a direct correlation. Therefore, an increase in traffic would lead to a high ranking on a search engine, further increasing customer interaction and engagement on the website. • Increases customer engagement and interaction Long-form content helps in initiating a conversation between a brand and its customers. Furthermore, it also increases customer engagement and loyalty.</a:t>
            </a:r>
          </a:p>
          <a:p>
            <a:pPr marL="228600" indent="-228600">
              <a:buAutoNum type="arabicPeriod"/>
            </a:pPr>
            <a:endParaRPr lang="en-US" dirty="0" smtClean="0"/>
          </a:p>
          <a:p>
            <a:pPr marL="228600" indent="-228600">
              <a:buAutoNum type="arabicPeriod"/>
            </a:pPr>
            <a:r>
              <a:rPr lang="en-US" dirty="0" smtClean="0"/>
              <a:t>Social Media Shopping: The advent of social media has helped businesses closely interact with their audience and provide a medium to sell their goods and service. The integration of social media and e-commerce has opened doors for an online marketplace for customers from different strata of society to buy products and services that match their expectations. It is a popular social media trend that transcends different industries. Moreover, it is an effective way to make your products available to customers while interacting and engaging with them. </a:t>
            </a:r>
          </a:p>
          <a:p>
            <a:pPr marL="228600" indent="-228600">
              <a:buAutoNum type="arabicPeriod"/>
            </a:pPr>
            <a:r>
              <a:rPr lang="en-US" dirty="0" smtClean="0"/>
              <a:t>Progressive Web Pages Progressive web pages are online websites that perform the functions of a mobile application. They send push notifications, load faster than other sites, and are accessible offline, among others. A progressive web page is one of the latest digital marketing trends that has addressed the need for websites that can offer a versatile user interface to customers with different devices. Furthermore, this latest digital marketing trend is expected to grow by leaps and bounds in the forthcoming years.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7</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Search engines perform several activities in order to deliver search results. </a:t>
            </a:r>
          </a:p>
          <a:p>
            <a:r>
              <a:rPr lang="en-US" dirty="0" smtClean="0"/>
              <a:t>• Crawling - Process of fetching all the web pages linked to a website. This task is performed by a software called a crawler or a spider (or </a:t>
            </a:r>
            <a:r>
              <a:rPr lang="en-US" dirty="0" err="1" smtClean="0"/>
              <a:t>Googlebot</a:t>
            </a:r>
            <a:r>
              <a:rPr lang="en-US" dirty="0" smtClean="0"/>
              <a:t>, in case of Google). </a:t>
            </a:r>
          </a:p>
          <a:p>
            <a:r>
              <a:rPr lang="en-US" dirty="0" smtClean="0"/>
              <a:t>• Indexing - Process of creating index for all the fetched web pages and keeping them into a giant database from where it can later be retrieved. Essentially, the process of indexing is identifying the words and expressions that best describe the page and assigning the page to particular keywords. </a:t>
            </a:r>
          </a:p>
          <a:p>
            <a:r>
              <a:rPr lang="en-US" dirty="0" smtClean="0"/>
              <a:t>• Processing - When a search request comes, the search engine processes it, i.e., it compares the search string in the search request with the indexed pages in the database. </a:t>
            </a:r>
          </a:p>
          <a:p>
            <a:r>
              <a:rPr lang="en-US" dirty="0" smtClean="0"/>
              <a:t>• Calculating Relevancy - It is likely that more than one page contains the search string, so the search engine starts calculating the relevancy of each of the pages in its index to the search string. </a:t>
            </a:r>
          </a:p>
          <a:p>
            <a:r>
              <a:rPr lang="en-US" dirty="0" smtClean="0"/>
              <a:t>• Retrieving Results - The last step in search engine activities is retrieving the best matched results. Basically, it is nothing more than simply displaying them in the browser.</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8</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PPC advertising campaign will be, you can achieve a lot by doing the following: </a:t>
            </a:r>
          </a:p>
          <a:p>
            <a:r>
              <a:rPr lang="en-US" dirty="0" smtClean="0"/>
              <a:t>• Bid on relevant keywords. Crafting relevant PPC keyword lists, tight keyword groups, and proper ad text. </a:t>
            </a:r>
          </a:p>
          <a:p>
            <a:r>
              <a:rPr lang="en-US" dirty="0" smtClean="0"/>
              <a:t>• Focus on landing page quality Create optimized landing pages with persuasive, relevant content, and a clear call to action tailored to specific search queries. </a:t>
            </a:r>
          </a:p>
          <a:p>
            <a:r>
              <a:rPr lang="en-US" dirty="0" smtClean="0"/>
              <a:t>• Improve your Quality Score Quality Score is Google’s rating of the quality and relevance of your keywords, landing pages, and PPC campaigns. Advertisers with better Quality Scores get more ad clicks at lower costs. </a:t>
            </a:r>
          </a:p>
          <a:p>
            <a:r>
              <a:rPr lang="en-US" dirty="0" smtClean="0"/>
              <a:t>• Capture attention Enticing ad copy is vital; and if you’re running display or social ads, so is eye-catching ad creative. </a:t>
            </a:r>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Transaction E-Mails: You get these mails after you are done with any transaction such as buying a product. They confirm the business transaction with information such as cost per unit, number of units bought, total cost, mode of payment, shipping details, delivery time, etc. </a:t>
            </a:r>
          </a:p>
          <a:p>
            <a:r>
              <a:rPr lang="en-US" dirty="0" smtClean="0"/>
              <a:t>Newsletters: They include information to keep customers involved. They foster relationship with customer. </a:t>
            </a:r>
          </a:p>
          <a:p>
            <a:r>
              <a:rPr lang="en-US" dirty="0" smtClean="0"/>
              <a:t>Promotion E-Mails: They carry details of any promotional activity such as sale, new offers, etc. </a:t>
            </a:r>
          </a:p>
          <a:p>
            <a:endParaRPr lang="en-US" dirty="0" smtClean="0"/>
          </a:p>
          <a:p>
            <a:r>
              <a:rPr lang="en-US" dirty="0" smtClean="0"/>
              <a:t>E-Mail marketing being cost-efficient and measurable, needs strategic planning and creative execution of campaign. You need to personalize message, deploy it, and analyze the results. </a:t>
            </a:r>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11</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Tracking an E-Mail Marketing Campaign:</a:t>
            </a:r>
          </a:p>
          <a:p>
            <a:r>
              <a:rPr lang="en-US" dirty="0" smtClean="0"/>
              <a:t>The essential metrics you should be tracking for E-Mail campaign are − </a:t>
            </a:r>
          </a:p>
          <a:p>
            <a:r>
              <a:rPr lang="en-US" dirty="0" smtClean="0"/>
              <a:t>• Click Through Rate: It gives you clear view of how many people engage with your mail and are interested in what you offer.</a:t>
            </a:r>
          </a:p>
          <a:p>
            <a:r>
              <a:rPr lang="en-US" dirty="0" smtClean="0"/>
              <a:t>• Conversion Rate: It helps you know, to what extent you are able to achieve your goals.</a:t>
            </a:r>
          </a:p>
          <a:p>
            <a:r>
              <a:rPr lang="en-US" dirty="0" smtClean="0"/>
              <a:t>• Bounce Rate It lets you know how many consider you as a spammer of worth time wasting.</a:t>
            </a:r>
          </a:p>
          <a:p>
            <a:r>
              <a:rPr lang="en-US" dirty="0" smtClean="0"/>
              <a:t>• Subscribers’ Growth Rate: It lets you decide how much you are able to extend your reach.</a:t>
            </a:r>
          </a:p>
          <a:p>
            <a:r>
              <a:rPr lang="en-US" dirty="0" smtClean="0"/>
              <a:t>• Email Forwarding Rate The more is the rate the more interested are your customers.</a:t>
            </a:r>
          </a:p>
          <a:p>
            <a:r>
              <a:rPr lang="en-US" dirty="0" smtClean="0"/>
              <a:t>• Overall ROI The gist of tracking is how many leads you are able to generate through your campaigns.</a:t>
            </a:r>
          </a:p>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12</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smtClean="0"/>
              <a:t>Types of Mobile Marketing Strategies </a:t>
            </a:r>
          </a:p>
          <a:p>
            <a:r>
              <a:rPr lang="en-US" dirty="0" smtClean="0"/>
              <a:t>• App-based marketing: This is mobile advertising involving mobile apps. While 80% of mobile time is spent engaged with apps, you don’t have to create an app yourself to get in on the action. Services like Google Ad Mob help advertisers create mobile ads that appear within third-party mobile apps. </a:t>
            </a:r>
            <a:r>
              <a:rPr lang="en-US" dirty="0" err="1" smtClean="0"/>
              <a:t>Facebook</a:t>
            </a:r>
            <a:r>
              <a:rPr lang="en-US" dirty="0" smtClean="0"/>
              <a:t> also allows advertisers to create ads that are integrated into </a:t>
            </a:r>
            <a:r>
              <a:rPr lang="en-US" dirty="0" err="1" smtClean="0"/>
              <a:t>Facebook’s</a:t>
            </a:r>
            <a:r>
              <a:rPr lang="en-US" dirty="0" smtClean="0"/>
              <a:t> mobile app. </a:t>
            </a:r>
            <a:r>
              <a:rPr lang="en-US" dirty="0" err="1" smtClean="0"/>
              <a:t>Facebook’s</a:t>
            </a:r>
            <a:r>
              <a:rPr lang="en-US" dirty="0" smtClean="0"/>
              <a:t> mobile Promoted Post ads integrate so seamlessly with </a:t>
            </a:r>
            <a:r>
              <a:rPr lang="en-US" dirty="0" err="1" smtClean="0"/>
              <a:t>Facebook’s</a:t>
            </a:r>
            <a:r>
              <a:rPr lang="en-US" dirty="0" smtClean="0"/>
              <a:t> news feed that users often don’t realize they’re looking at ads. </a:t>
            </a:r>
          </a:p>
          <a:p>
            <a:r>
              <a:rPr lang="en-US" dirty="0" smtClean="0"/>
              <a:t>• In-game mobile marketing: In-game mobile marketing refers to mobile ads that appear within mobile games, like in the example below. In-game ads can appear as banner popup, full-page image ads or even video ads that appear between loading screens.</a:t>
            </a:r>
          </a:p>
          <a:p>
            <a:r>
              <a:rPr lang="en-US" dirty="0" smtClean="0"/>
              <a:t>• QR codes: QR codes are scanned by users, who are then taken to a specific webpage that the QR code is attached to. QR codes are often aligned with mobile gasification and have an element of mystery to them, since users who scan them don’t always know exactly which rabbit hole they’re jumping down. </a:t>
            </a:r>
          </a:p>
          <a:p>
            <a:r>
              <a:rPr lang="en-US" dirty="0" smtClean="0"/>
              <a:t>• Location-based marketing: Location-based mobile ads are ads that appear on mobile devices based upon a user’s location relative to a specific area or business. For example, some advertisers may only want their mobile ads to appear when users are within a 1- mile radius of their business. </a:t>
            </a:r>
          </a:p>
          <a:p>
            <a:r>
              <a:rPr lang="en-US" dirty="0" smtClean="0"/>
              <a:t>• Mobile search ads: These are basic Google search ads built for mobile, often featuring extra add-on extensions like click-to-call or maps. </a:t>
            </a:r>
          </a:p>
          <a:p>
            <a:r>
              <a:rPr lang="en-US" dirty="0" smtClean="0"/>
              <a:t>• Mobile app: A mobile app is a software application developed specifically for use on small, wireless computing devices, such as </a:t>
            </a:r>
            <a:r>
              <a:rPr lang="en-US" dirty="0" err="1" smtClean="0"/>
              <a:t>smartphones</a:t>
            </a:r>
            <a:r>
              <a:rPr lang="en-US" dirty="0" smtClean="0"/>
              <a:t> and tablets, rather than desktop or laptop computers. Mobile apps are designed with consideration for the demands and constraints of the devices and also to take advantage of any specialized capabilities they have. A gaming app, for example, might take advantage of the </a:t>
            </a:r>
            <a:r>
              <a:rPr lang="en-US" dirty="0" err="1" smtClean="0"/>
              <a:t>iPhone's</a:t>
            </a:r>
            <a:r>
              <a:rPr lang="en-US" dirty="0" smtClean="0"/>
              <a:t> accelerometer.</a:t>
            </a:r>
          </a:p>
          <a:p>
            <a:endParaRPr lang="en-US" dirty="0" smtClean="0"/>
          </a:p>
        </p:txBody>
      </p:sp>
      <p:sp>
        <p:nvSpPr>
          <p:cNvPr id="4" name="Slide Number Placeholder 3"/>
          <p:cNvSpPr>
            <a:spLocks noGrp="1"/>
          </p:cNvSpPr>
          <p:nvPr>
            <p:ph type="sldNum" sz="quarter" idx="10"/>
          </p:nvPr>
        </p:nvSpPr>
        <p:spPr/>
        <p:txBody>
          <a:bodyPr/>
          <a:lstStyle/>
          <a:p>
            <a:fld id="{CF227D3B-2287-49FE-BA04-CEB317E1ED21}" type="slidenum">
              <a:rPr lang="en-US" smtClean="0"/>
              <a:pPr/>
              <a:t>14</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smtClean="0"/>
              <a:t>Social Media Marketing Tools: </a:t>
            </a:r>
          </a:p>
          <a:p>
            <a:pPr marL="228600" indent="-228600">
              <a:buAutoNum type="arabicPeriod"/>
            </a:pPr>
            <a:r>
              <a:rPr lang="en-US" dirty="0" smtClean="0"/>
              <a:t>Hoot Suite: whether you are a user handling multiple accounts, or an agency that handles hundreds, Hoot Suite makes it easy. It’s easy to add accounts, easy to schedule posts across all major platforms and easy to add account managers. In addition, the company also has a robust training platform that teaches not just the tools, but how to think about social marketing as a whole. </a:t>
            </a:r>
          </a:p>
          <a:p>
            <a:pPr marL="228600" indent="-228600">
              <a:buAutoNum type="arabicPeriod"/>
            </a:pPr>
            <a:r>
              <a:rPr lang="en-US" dirty="0" smtClean="0"/>
              <a:t>Hub Spot: While there are a lot of tools out there that let you monitor and publish to social accounts; we recommend platforms such as </a:t>
            </a:r>
            <a:r>
              <a:rPr lang="en-US" dirty="0" err="1" smtClean="0"/>
              <a:t>HubSpot</a:t>
            </a:r>
            <a:r>
              <a:rPr lang="en-US" dirty="0" smtClean="0"/>
              <a:t> where you can not only monitor and publish but also get closed-loop reporting data. That means you're not just seeing what channels drive the most engagement, but you can track further down the funnel to see what posts and channels drive actual leads and sales. </a:t>
            </a:r>
          </a:p>
          <a:p>
            <a:pPr marL="228600" indent="-228600">
              <a:buAutoNum type="arabicPeriod"/>
            </a:pPr>
            <a:r>
              <a:rPr lang="en-US" dirty="0" err="1" smtClean="0"/>
              <a:t>MeetEdgar</a:t>
            </a:r>
            <a:r>
              <a:rPr lang="en-US" dirty="0" smtClean="0"/>
              <a:t>: There are countless tools that post for you and schedule posts but what about a system that re-shares evergreen posts? </a:t>
            </a:r>
            <a:r>
              <a:rPr lang="en-US" dirty="0" err="1" smtClean="0"/>
              <a:t>MeetEdgar</a:t>
            </a:r>
            <a:r>
              <a:rPr lang="en-US" dirty="0" smtClean="0"/>
              <a:t> is the one because it has the biggest impact on traffic by automatically re-sharing your evergreen content. </a:t>
            </a:r>
          </a:p>
          <a:p>
            <a:pPr marL="228600" indent="-228600">
              <a:buAutoNum type="arabicPeriod"/>
            </a:pPr>
            <a:r>
              <a:rPr lang="en-US" dirty="0" smtClean="0"/>
              <a:t>Tweet Deck: Tweet Deck has been around a long time now, and there's a reason for that: It's one of the best and best-priced (what can beat free?) ways out there to be a part of the </a:t>
            </a:r>
            <a:r>
              <a:rPr lang="en-US" dirty="0" err="1" smtClean="0"/>
              <a:t>Twittersphere</a:t>
            </a:r>
            <a:r>
              <a:rPr lang="en-US" dirty="0" smtClean="0"/>
              <a:t>. The multi-columned layout makes it easy to follow several conversations at once, and scheduling content is a snap. Twitter moves so fast, but </a:t>
            </a:r>
            <a:r>
              <a:rPr lang="en-US" dirty="0" err="1" smtClean="0"/>
              <a:t>TweetDeck</a:t>
            </a:r>
            <a:r>
              <a:rPr lang="en-US" dirty="0" smtClean="0"/>
              <a:t> makes it doable and even enjoyable. </a:t>
            </a:r>
          </a:p>
          <a:p>
            <a:pPr marL="228600" indent="-228600">
              <a:buAutoNum type="arabicPeriod"/>
            </a:pPr>
            <a:r>
              <a:rPr lang="en-US" dirty="0" smtClean="0"/>
              <a:t>IFTTT, or “If This Then That,” is a great automation tool that can help you save a lot of time on trying to manage social media platforms, apps and websites. The tool can link these services together based on a trigger and an action. Based on the trigger you create, it will start an action. For example, if you publish a blog (the trigger), then IFTTT will automate and create a tweet (the action). </a:t>
            </a:r>
          </a:p>
          <a:p>
            <a:pPr marL="228600" indent="-228600">
              <a:buAutoNum type="arabicPeriod"/>
            </a:pPr>
            <a:r>
              <a:rPr lang="en-US" dirty="0" smtClean="0"/>
              <a:t>Buffer: It lets you schedule and manage social media posts across all of the most widely used channels, and you can individually customize each post for all of the different platforms it gets posted to. Buffer also shares your content at the best possible times throughout the day and tracks links so that you can see what content gets the most traction. </a:t>
            </a:r>
          </a:p>
          <a:p>
            <a:pPr marL="228600" indent="-228600">
              <a:buAutoNum type="arabicPeriod"/>
            </a:pPr>
            <a:r>
              <a:rPr lang="en-US" dirty="0" smtClean="0"/>
              <a:t>Sprout Social: Digital team utilizes Sprout Social for its social media management, which allows the team members to monitor clients’ social media mentions, engage with brand advocates, schedule content in advance, and utilize reporting tools to inform future strategies. As our hotel clients’ guests view social media as a virtual concierge, we find it essential to have a tool to streamline real-time communication. </a:t>
            </a:r>
          </a:p>
          <a:p>
            <a:pPr marL="228600" indent="-228600">
              <a:buAutoNum type="arabicPeriod"/>
            </a:pPr>
            <a:r>
              <a:rPr lang="en-US" dirty="0" err="1" smtClean="0"/>
              <a:t>Canva</a:t>
            </a:r>
            <a:r>
              <a:rPr lang="en-US" dirty="0" smtClean="0"/>
              <a:t>: What you can do with </a:t>
            </a:r>
            <a:r>
              <a:rPr lang="en-US" dirty="0" err="1" smtClean="0"/>
              <a:t>Canva</a:t>
            </a:r>
            <a:r>
              <a:rPr lang="en-US" dirty="0" smtClean="0"/>
              <a:t>: design presentations, social media graphics, and a heap of other things with thousands of beautiful layouts. It has everything you need for catching designs. Millions of stock photographs, vectors and illustrations. You can also upload your own visuals. </a:t>
            </a:r>
            <a:r>
              <a:rPr lang="en-US" dirty="0" err="1" smtClean="0"/>
              <a:t>Canva</a:t>
            </a:r>
            <a:r>
              <a:rPr lang="en-US" dirty="0" smtClean="0"/>
              <a:t> has preset filters and advanced photo editing tools to modify pictures. It gives you the possibility to use icons, shapes and elements, thousands of them. Hundreds of fonts perfect for every design are also ready to go and accessible within </a:t>
            </a:r>
            <a:r>
              <a:rPr lang="en-US" dirty="0" err="1" smtClean="0"/>
              <a:t>Canva</a:t>
            </a:r>
            <a:r>
              <a:rPr lang="en-US" dirty="0" smtClean="0"/>
              <a:t>. </a:t>
            </a:r>
          </a:p>
          <a:p>
            <a:pPr marL="228600" indent="-228600">
              <a:buAutoNum type="arabicPeriod"/>
            </a:pPr>
            <a:r>
              <a:rPr lang="en-US" dirty="0" smtClean="0"/>
              <a:t>Adobe Post:  Adobe Post was created to give you a powerful tool to differentiate among the competitors and engage your followers with </a:t>
            </a:r>
            <a:r>
              <a:rPr lang="en-US" dirty="0" err="1" smtClean="0"/>
              <a:t>eyecatching</a:t>
            </a:r>
            <a:r>
              <a:rPr lang="en-US" dirty="0" smtClean="0"/>
              <a:t> posts. Create stunning social graphics in seconds with it. Get started quickly with handcrafted </a:t>
            </a:r>
            <a:r>
              <a:rPr lang="en-US" dirty="0" err="1" smtClean="0"/>
              <a:t>remixable</a:t>
            </a:r>
            <a:r>
              <a:rPr lang="en-US" dirty="0" smtClean="0"/>
              <a:t> design templates made for social sharing. Resize your text - beautiful typography will be automatically applied on-the-fly. Transform your text and photo into professional-looking graphics with a single tap. </a:t>
            </a:r>
          </a:p>
          <a:p>
            <a:pPr marL="228600" indent="-228600">
              <a:buAutoNum type="arabicPeriod"/>
            </a:pPr>
            <a:r>
              <a:rPr lang="en-US" dirty="0" smtClean="0"/>
              <a:t> Bundle Post: Bundle Post is a content </a:t>
            </a:r>
            <a:r>
              <a:rPr lang="en-US" dirty="0" err="1" smtClean="0"/>
              <a:t>curation</a:t>
            </a:r>
            <a:r>
              <a:rPr lang="en-US" dirty="0" smtClean="0"/>
              <a:t> tool that aggregates and schedules social media content efficiently. Search, edit and schedule with a browser </a:t>
            </a:r>
            <a:r>
              <a:rPr lang="en-US" dirty="0" err="1" smtClean="0"/>
              <a:t>plugin</a:t>
            </a:r>
            <a:r>
              <a:rPr lang="en-US" dirty="0" smtClean="0"/>
              <a:t> or social media dashboard, then add </a:t>
            </a:r>
            <a:r>
              <a:rPr lang="en-US" dirty="0" err="1" smtClean="0"/>
              <a:t>hashtags</a:t>
            </a:r>
            <a:r>
              <a:rPr lang="en-US" dirty="0" smtClean="0"/>
              <a:t>. Keep your audience engaged and get results</a:t>
            </a:r>
          </a:p>
          <a:p>
            <a:pPr marL="228600" indent="-228600">
              <a:buAutoNum type="arabicPeriod"/>
            </a:pPr>
            <a:r>
              <a:rPr lang="en-US" dirty="0" err="1" smtClean="0"/>
              <a:t>MailChimp</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CF227D3B-2287-49FE-BA04-CEB317E1ED21}" type="slidenum">
              <a:rPr lang="en-US" smtClean="0"/>
              <a:pPr/>
              <a:t>15</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CF227D3B-2287-49FE-BA04-CEB317E1ED21}" type="slidenum">
              <a:rPr lang="en-US" smtClean="0"/>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Digital Marketing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Marketing</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t>Marketing is a complex topic or a concept which is used to make a comprehensive plan of action or a strategy to increase sell, create awareness about brands and products etc.</a:t>
            </a:r>
          </a:p>
          <a:p>
            <a:pPr algn="just">
              <a:buFont typeface="Wingdings" pitchFamily="2" charset="2"/>
              <a:buChar char="Ø"/>
            </a:pPr>
            <a:r>
              <a:rPr lang="en-US" dirty="0" smtClean="0"/>
              <a:t>It includes advertising and promotions</a:t>
            </a:r>
          </a:p>
          <a:p>
            <a:endParaRPr lang="en-US" dirty="0" smtClean="0"/>
          </a:p>
          <a:p>
            <a:pPr>
              <a:buFont typeface="Wingdings" pitchFamily="2" charset="2"/>
              <a:buChar char="Ø"/>
            </a:pPr>
            <a:r>
              <a:rPr lang="en-US" dirty="0" smtClean="0"/>
              <a:t>Two Types of marketing </a:t>
            </a:r>
          </a:p>
          <a:p>
            <a:pPr lvl="1">
              <a:buFont typeface="Wingdings" pitchFamily="2" charset="2"/>
              <a:buChar char="Ø"/>
            </a:pPr>
            <a:r>
              <a:rPr lang="en-US" dirty="0" smtClean="0"/>
              <a:t>Traditional Marketing </a:t>
            </a:r>
          </a:p>
          <a:p>
            <a:pPr lvl="1">
              <a:buFont typeface="Wingdings" pitchFamily="2" charset="2"/>
              <a:buChar char="Ø"/>
            </a:pPr>
            <a:r>
              <a:rPr lang="en-US" dirty="0" smtClean="0"/>
              <a:t>Digital marketing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Different between traditional Marketing ad Digital Marketing</a:t>
            </a:r>
            <a:endParaRPr lang="en-US" dirty="0"/>
          </a:p>
        </p:txBody>
      </p:sp>
      <p:graphicFrame>
        <p:nvGraphicFramePr>
          <p:cNvPr id="4" name="Table 3"/>
          <p:cNvGraphicFramePr>
            <a:graphicFrameLocks noGrp="1"/>
          </p:cNvGraphicFramePr>
          <p:nvPr/>
        </p:nvGraphicFramePr>
        <p:xfrm>
          <a:off x="228600" y="1402080"/>
          <a:ext cx="8610601" cy="5006132"/>
        </p:xfrm>
        <a:graphic>
          <a:graphicData uri="http://schemas.openxmlformats.org/drawingml/2006/table">
            <a:tbl>
              <a:tblPr firstRow="1" bandRow="1">
                <a:tableStyleId>{5C22544A-7EE6-4342-B048-85BDC9FD1C3A}</a:tableStyleId>
              </a:tblPr>
              <a:tblGrid>
                <a:gridCol w="968694"/>
                <a:gridCol w="4020626"/>
                <a:gridCol w="3621281"/>
              </a:tblGrid>
              <a:tr h="361485">
                <a:tc>
                  <a:txBody>
                    <a:bodyPr/>
                    <a:lstStyle/>
                    <a:p>
                      <a:pPr algn="ctr"/>
                      <a:r>
                        <a:rPr lang="en-US" dirty="0" smtClean="0"/>
                        <a:t>Sl. No.</a:t>
                      </a:r>
                      <a:endParaRPr lang="en-US" dirty="0"/>
                    </a:p>
                  </a:txBody>
                  <a:tcPr/>
                </a:tc>
                <a:tc>
                  <a:txBody>
                    <a:bodyPr/>
                    <a:lstStyle/>
                    <a:p>
                      <a:pPr algn="ctr"/>
                      <a:r>
                        <a:rPr lang="en-US" dirty="0" smtClean="0"/>
                        <a:t>Traditional Marketing</a:t>
                      </a:r>
                      <a:endParaRPr lang="en-US" dirty="0"/>
                    </a:p>
                  </a:txBody>
                  <a:tcPr/>
                </a:tc>
                <a:tc>
                  <a:txBody>
                    <a:bodyPr/>
                    <a:lstStyle/>
                    <a:p>
                      <a:pPr algn="ctr"/>
                      <a:r>
                        <a:rPr lang="en-US" dirty="0" smtClean="0"/>
                        <a:t>Digital</a:t>
                      </a:r>
                      <a:r>
                        <a:rPr lang="en-US" baseline="0" dirty="0" smtClean="0"/>
                        <a:t> Marketing</a:t>
                      </a:r>
                      <a:endParaRPr lang="en-US" dirty="0"/>
                    </a:p>
                  </a:txBody>
                  <a:tcPr/>
                </a:tc>
              </a:tr>
              <a:tr h="1158732">
                <a:tc>
                  <a:txBody>
                    <a:bodyPr/>
                    <a:lstStyle/>
                    <a:p>
                      <a:pPr algn="ctr"/>
                      <a:r>
                        <a:rPr lang="en-US" dirty="0" smtClean="0"/>
                        <a:t>1</a:t>
                      </a:r>
                      <a:endParaRPr lang="en-US" dirty="0"/>
                    </a:p>
                  </a:txBody>
                  <a:tcPr/>
                </a:tc>
                <a:tc>
                  <a:txBody>
                    <a:bodyPr/>
                    <a:lstStyle/>
                    <a:p>
                      <a:pPr algn="just"/>
                      <a:r>
                        <a:rPr lang="en-US" dirty="0" smtClean="0"/>
                        <a:t>The promotion of products and services through TV, Telephone, Banner, Broadcast, Door to Door, Sponsorship, etc.</a:t>
                      </a:r>
                      <a:endParaRPr lang="en-US" dirty="0"/>
                    </a:p>
                  </a:txBody>
                  <a:tcPr/>
                </a:tc>
                <a:tc>
                  <a:txBody>
                    <a:bodyPr/>
                    <a:lstStyle/>
                    <a:p>
                      <a:pPr algn="just"/>
                      <a:r>
                        <a:rPr lang="en-US" dirty="0" smtClean="0"/>
                        <a:t>The promotion of products and services through digital media or electronic mediums like SEO, </a:t>
                      </a:r>
                      <a:r>
                        <a:rPr lang="en-US" dirty="0" err="1" smtClean="0"/>
                        <a:t>sem</a:t>
                      </a:r>
                      <a:r>
                        <a:rPr lang="en-US" dirty="0" smtClean="0"/>
                        <a:t>, PPC, etc. </a:t>
                      </a:r>
                      <a:endParaRPr lang="en-US" dirty="0"/>
                    </a:p>
                  </a:txBody>
                  <a:tcPr/>
                </a:tc>
              </a:tr>
              <a:tr h="623933">
                <a:tc>
                  <a:txBody>
                    <a:bodyPr/>
                    <a:lstStyle/>
                    <a:p>
                      <a:pPr algn="ctr"/>
                      <a:r>
                        <a:rPr lang="en-US" dirty="0" smtClean="0"/>
                        <a:t>2</a:t>
                      </a:r>
                      <a:endParaRPr lang="en-US" dirty="0"/>
                    </a:p>
                  </a:txBody>
                  <a:tcPr/>
                </a:tc>
                <a:tc>
                  <a:txBody>
                    <a:bodyPr/>
                    <a:lstStyle/>
                    <a:p>
                      <a:pPr algn="just"/>
                      <a:r>
                        <a:rPr lang="en-US" dirty="0" smtClean="0"/>
                        <a:t>Traditional Marketing is not cost-effective.</a:t>
                      </a:r>
                      <a:endParaRPr lang="en-US" dirty="0"/>
                    </a:p>
                  </a:txBody>
                  <a:tcPr/>
                </a:tc>
                <a:tc>
                  <a:txBody>
                    <a:bodyPr/>
                    <a:lstStyle/>
                    <a:p>
                      <a:pPr algn="just"/>
                      <a:r>
                        <a:rPr lang="en-US" dirty="0" smtClean="0"/>
                        <a:t>Digital Marketing is more cost-effective promoting.</a:t>
                      </a:r>
                      <a:endParaRPr lang="en-US" dirty="0"/>
                    </a:p>
                  </a:txBody>
                  <a:tcPr/>
                </a:tc>
              </a:tr>
              <a:tr h="623933">
                <a:tc>
                  <a:txBody>
                    <a:bodyPr/>
                    <a:lstStyle/>
                    <a:p>
                      <a:pPr algn="ctr"/>
                      <a:r>
                        <a:rPr lang="en-US" dirty="0" smtClean="0"/>
                        <a:t>3</a:t>
                      </a:r>
                      <a:endParaRPr lang="en-US" dirty="0"/>
                    </a:p>
                  </a:txBody>
                  <a:tcPr/>
                </a:tc>
                <a:tc>
                  <a:txBody>
                    <a:bodyPr/>
                    <a:lstStyle/>
                    <a:p>
                      <a:pPr algn="just"/>
                      <a:r>
                        <a:rPr lang="en-US" dirty="0" smtClean="0"/>
                        <a:t>It is not so good for Brand building. </a:t>
                      </a:r>
                      <a:endParaRPr lang="en-US" dirty="0"/>
                    </a:p>
                  </a:txBody>
                  <a:tcPr/>
                </a:tc>
                <a:tc>
                  <a:txBody>
                    <a:bodyPr/>
                    <a:lstStyle/>
                    <a:p>
                      <a:pPr algn="just"/>
                      <a:r>
                        <a:rPr lang="en-US" dirty="0" smtClean="0"/>
                        <a:t>It is efficient and fast for brand building.</a:t>
                      </a:r>
                      <a:endParaRPr lang="en-US" dirty="0"/>
                    </a:p>
                  </a:txBody>
                  <a:tcPr/>
                </a:tc>
              </a:tr>
              <a:tr h="891332">
                <a:tc>
                  <a:txBody>
                    <a:bodyPr/>
                    <a:lstStyle/>
                    <a:p>
                      <a:pPr algn="ctr"/>
                      <a:r>
                        <a:rPr lang="en-US" dirty="0" smtClean="0"/>
                        <a:t>4</a:t>
                      </a:r>
                      <a:endParaRPr lang="en-US" dirty="0"/>
                    </a:p>
                  </a:txBody>
                  <a:tcPr/>
                </a:tc>
                <a:tc>
                  <a:txBody>
                    <a:bodyPr/>
                    <a:lstStyle/>
                    <a:p>
                      <a:pPr algn="just"/>
                      <a:r>
                        <a:rPr lang="en-US" dirty="0" smtClean="0"/>
                        <a:t>Traditional Marketing is difficult to Measure. </a:t>
                      </a:r>
                      <a:endParaRPr lang="en-US" dirty="0"/>
                    </a:p>
                  </a:txBody>
                  <a:tcPr/>
                </a:tc>
                <a:tc>
                  <a:txBody>
                    <a:bodyPr/>
                    <a:lstStyle/>
                    <a:p>
                      <a:pPr algn="just"/>
                      <a:r>
                        <a:rPr lang="en-US" dirty="0" smtClean="0"/>
                        <a:t>Digital Marketing is easy to Measure with the help of analytics tools. </a:t>
                      </a:r>
                      <a:endParaRPr lang="en-US" dirty="0"/>
                    </a:p>
                  </a:txBody>
                  <a:tcPr/>
                </a:tc>
              </a:tr>
              <a:tr h="623933">
                <a:tc>
                  <a:txBody>
                    <a:bodyPr/>
                    <a:lstStyle/>
                    <a:p>
                      <a:pPr algn="ctr"/>
                      <a:r>
                        <a:rPr lang="en-US" dirty="0" smtClean="0"/>
                        <a:t>5</a:t>
                      </a:r>
                      <a:endParaRPr lang="en-US" dirty="0"/>
                    </a:p>
                  </a:txBody>
                  <a:tcPr/>
                </a:tc>
                <a:tc>
                  <a:txBody>
                    <a:bodyPr/>
                    <a:lstStyle/>
                    <a:p>
                      <a:pPr algn="just"/>
                      <a:r>
                        <a:rPr lang="en-US" dirty="0" smtClean="0"/>
                        <a:t>It is difficult to quantify the return on investment in traditional marketing</a:t>
                      </a:r>
                      <a:endParaRPr lang="en-US" dirty="0"/>
                    </a:p>
                  </a:txBody>
                  <a:tcPr/>
                </a:tc>
                <a:tc>
                  <a:txBody>
                    <a:bodyPr/>
                    <a:lstStyle/>
                    <a:p>
                      <a:pPr algn="just"/>
                      <a:r>
                        <a:rPr lang="en-US" dirty="0" smtClean="0"/>
                        <a:t>It is simple to calculate in the case of digital marketing.</a:t>
                      </a:r>
                      <a:endParaRPr lang="en-US" dirty="0"/>
                    </a:p>
                  </a:txBody>
                  <a:tcPr/>
                </a:tc>
              </a:tr>
              <a:tr h="623933">
                <a:tc>
                  <a:txBody>
                    <a:bodyPr/>
                    <a:lstStyle/>
                    <a:p>
                      <a:pPr algn="ctr"/>
                      <a:r>
                        <a:rPr lang="en-US" dirty="0" smtClean="0"/>
                        <a:t>6</a:t>
                      </a:r>
                      <a:endParaRPr lang="en-US" dirty="0"/>
                    </a:p>
                  </a:txBody>
                  <a:tcPr/>
                </a:tc>
                <a:tc>
                  <a:txBody>
                    <a:bodyPr/>
                    <a:lstStyle/>
                    <a:p>
                      <a:pPr algn="just"/>
                      <a:r>
                        <a:rPr lang="en-US" dirty="0" smtClean="0"/>
                        <a:t>After the posting of the advertisement, it cannot be altered.</a:t>
                      </a:r>
                      <a:endParaRPr lang="en-US" dirty="0"/>
                    </a:p>
                  </a:txBody>
                  <a:tcPr/>
                </a:tc>
                <a:tc>
                  <a:txBody>
                    <a:bodyPr/>
                    <a:lstStyle/>
                    <a:p>
                      <a:pPr algn="just"/>
                      <a:r>
                        <a:rPr lang="en-US" dirty="0" smtClean="0"/>
                        <a:t>Even after the posting of an advertisement, it can be amended. </a:t>
                      </a:r>
                      <a:endParaRPr lang="en-US" dirty="0"/>
                    </a:p>
                  </a:txBody>
                  <a:tcPr/>
                </a:tc>
              </a:tr>
            </a:tbl>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MARKETING</a:t>
            </a:r>
            <a:endParaRPr lang="en-US" dirty="0"/>
          </a:p>
        </p:txBody>
      </p:sp>
      <p:sp>
        <p:nvSpPr>
          <p:cNvPr id="3" name="Content Placeholder 2"/>
          <p:cNvSpPr>
            <a:spLocks noGrp="1"/>
          </p:cNvSpPr>
          <p:nvPr>
            <p:ph idx="1"/>
          </p:nvPr>
        </p:nvSpPr>
        <p:spPr/>
        <p:txBody>
          <a:bodyPr>
            <a:normAutofit fontScale="85000" lnSpcReduction="10000"/>
          </a:bodyPr>
          <a:lstStyle/>
          <a:p>
            <a:pPr algn="just">
              <a:buFont typeface="Wingdings" pitchFamily="2" charset="2"/>
              <a:buChar char="Ø"/>
            </a:pPr>
            <a:r>
              <a:rPr lang="en-US" dirty="0" smtClean="0"/>
              <a:t>In Digital Marketing the communication is bidirectional</a:t>
            </a:r>
          </a:p>
          <a:p>
            <a:pPr algn="just">
              <a:buFont typeface="Wingdings" pitchFamily="2" charset="2"/>
              <a:buChar char="Ø"/>
            </a:pPr>
            <a:r>
              <a:rPr lang="en-US" dirty="0" smtClean="0"/>
              <a:t>businesses can communicate with customers and customers can ask queries or make suggestions to businesses</a:t>
            </a:r>
          </a:p>
          <a:p>
            <a:pPr algn="just">
              <a:buFont typeface="Wingdings" pitchFamily="2" charset="2"/>
              <a:buChar char="Ø"/>
            </a:pPr>
            <a:r>
              <a:rPr lang="en-US" dirty="0" smtClean="0"/>
              <a:t>Medium of communication is more powerful and involves social media websites, chats, apps and Email.</a:t>
            </a:r>
          </a:p>
          <a:p>
            <a:pPr algn="just">
              <a:buFont typeface="Wingdings" pitchFamily="2" charset="2"/>
              <a:buChar char="Ø"/>
            </a:pPr>
            <a:r>
              <a:rPr lang="en-US" dirty="0" smtClean="0"/>
              <a:t>Digital marketing campaigns can be developed quite rapidly and with digital tools, channelizing Digital Marketing campaigns is easier.</a:t>
            </a:r>
          </a:p>
          <a:p>
            <a:pPr algn="just">
              <a:buFont typeface="Wingdings" pitchFamily="2" charset="2"/>
              <a:buChar char="Ø"/>
            </a:pPr>
            <a:r>
              <a:rPr lang="en-US" dirty="0" smtClean="0"/>
              <a:t>It is very effective for reaching global audiences. </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Digital Marketing</a:t>
            </a:r>
            <a:endParaRPr lang="en-US" dirty="0"/>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Ø"/>
            </a:pPr>
            <a:r>
              <a:rPr lang="en-US" dirty="0" smtClean="0"/>
              <a:t>Website Marketing</a:t>
            </a:r>
          </a:p>
          <a:p>
            <a:pPr>
              <a:buFont typeface="Wingdings" pitchFamily="2" charset="2"/>
              <a:buChar char="Ø"/>
            </a:pPr>
            <a:r>
              <a:rPr lang="en-US" dirty="0" smtClean="0"/>
              <a:t>Pay-Per-Click (PPC) Marketing</a:t>
            </a:r>
          </a:p>
          <a:p>
            <a:pPr>
              <a:buFont typeface="Wingdings" pitchFamily="2" charset="2"/>
              <a:buChar char="Ø"/>
            </a:pPr>
            <a:r>
              <a:rPr lang="en-US" dirty="0" smtClean="0"/>
              <a:t>Search Engine Optimization (SEO)</a:t>
            </a:r>
          </a:p>
          <a:p>
            <a:pPr>
              <a:buFont typeface="Wingdings" pitchFamily="2" charset="2"/>
              <a:buChar char="Ø"/>
            </a:pPr>
            <a:r>
              <a:rPr lang="en-US" dirty="0" smtClean="0"/>
              <a:t>Search Engine Marketing (SEM)</a:t>
            </a:r>
          </a:p>
          <a:p>
            <a:pPr>
              <a:buFont typeface="Wingdings" pitchFamily="2" charset="2"/>
              <a:buChar char="Ø"/>
            </a:pPr>
            <a:r>
              <a:rPr lang="en-US" dirty="0" smtClean="0"/>
              <a:t>Social Media Marketing (SMM)</a:t>
            </a:r>
          </a:p>
          <a:p>
            <a:pPr>
              <a:buFont typeface="Wingdings" pitchFamily="2" charset="2"/>
              <a:buChar char="Ø"/>
            </a:pPr>
            <a:r>
              <a:rPr lang="en-US" dirty="0" smtClean="0"/>
              <a:t>Content Marketing</a:t>
            </a:r>
          </a:p>
          <a:p>
            <a:pPr>
              <a:buFont typeface="Wingdings" pitchFamily="2" charset="2"/>
              <a:buChar char="Ø"/>
            </a:pPr>
            <a:r>
              <a:rPr lang="en-US" dirty="0" smtClean="0"/>
              <a:t>Email Marketing</a:t>
            </a:r>
          </a:p>
          <a:p>
            <a:pPr>
              <a:buFont typeface="Wingdings" pitchFamily="2" charset="2"/>
              <a:buChar char="Ø"/>
            </a:pPr>
            <a:r>
              <a:rPr lang="en-US" dirty="0" smtClean="0"/>
              <a:t>Affiliate Marketing</a:t>
            </a:r>
          </a:p>
          <a:p>
            <a:pPr>
              <a:buFont typeface="Wingdings" pitchFamily="2" charset="2"/>
              <a:buChar char="Ø"/>
            </a:pPr>
            <a:r>
              <a:rPr lang="en-US" dirty="0" smtClean="0"/>
              <a:t>Video Marketing</a:t>
            </a:r>
          </a:p>
          <a:p>
            <a:pPr>
              <a:buFont typeface="Wingdings" pitchFamily="2" charset="2"/>
              <a:buChar char="Ø"/>
            </a:pPr>
            <a:r>
              <a:rPr lang="en-US" dirty="0" smtClean="0"/>
              <a:t>SMS Messaging</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Marketing Characteristics</a:t>
            </a:r>
            <a:endParaRPr lang="en-US" dirty="0"/>
          </a:p>
        </p:txBody>
      </p:sp>
      <p:sp>
        <p:nvSpPr>
          <p:cNvPr id="3" name="Content Placeholder 2"/>
          <p:cNvSpPr>
            <a:spLocks noGrp="1"/>
          </p:cNvSpPr>
          <p:nvPr>
            <p:ph idx="1"/>
          </p:nvPr>
        </p:nvSpPr>
        <p:spPr/>
        <p:txBody>
          <a:bodyPr/>
          <a:lstStyle/>
          <a:p>
            <a:pPr>
              <a:buNone/>
            </a:pPr>
            <a:r>
              <a:rPr lang="en-US" dirty="0" smtClean="0">
                <a:solidFill>
                  <a:schemeClr val="tx2"/>
                </a:solidFill>
              </a:rPr>
              <a:t>The company or organization to have following characteristics to be successful in digital marketing</a:t>
            </a:r>
          </a:p>
          <a:p>
            <a:pPr>
              <a:buFont typeface="Wingdings" pitchFamily="2" charset="2"/>
              <a:buChar char="Ø"/>
            </a:pPr>
            <a:r>
              <a:rPr lang="en-US" dirty="0" smtClean="0"/>
              <a:t>Quality Website for Company</a:t>
            </a:r>
          </a:p>
          <a:p>
            <a:pPr>
              <a:buFont typeface="Wingdings" pitchFamily="2" charset="2"/>
              <a:buChar char="Ø"/>
            </a:pPr>
            <a:r>
              <a:rPr lang="en-US" dirty="0" smtClean="0"/>
              <a:t>Social Media Presence</a:t>
            </a:r>
          </a:p>
          <a:p>
            <a:pPr>
              <a:buFont typeface="Wingdings" pitchFamily="2" charset="2"/>
              <a:buChar char="Ø"/>
            </a:pPr>
            <a:r>
              <a:rPr lang="en-US" dirty="0" smtClean="0"/>
              <a:t>Blogging</a:t>
            </a:r>
          </a:p>
          <a:p>
            <a:pPr>
              <a:buFont typeface="Wingdings" pitchFamily="2" charset="2"/>
              <a:buChar char="Ø"/>
            </a:pPr>
            <a:r>
              <a:rPr lang="en-US" dirty="0" smtClean="0"/>
              <a:t>Forums</a:t>
            </a:r>
          </a:p>
          <a:p>
            <a:pPr>
              <a:buFont typeface="Wingdings" pitchFamily="2" charset="2"/>
              <a:buChar char="Ø"/>
            </a:pPr>
            <a:r>
              <a:rPr lang="en-US" dirty="0" smtClean="0"/>
              <a:t>Listing services</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Marketing Trends </a:t>
            </a: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smtClean="0"/>
              <a:t>Influencer Marketing</a:t>
            </a:r>
          </a:p>
          <a:p>
            <a:pPr>
              <a:buFont typeface="Wingdings" pitchFamily="2" charset="2"/>
              <a:buChar char="Ø"/>
            </a:pPr>
            <a:r>
              <a:rPr lang="en-US" dirty="0" smtClean="0"/>
              <a:t>Omni channel Marketing</a:t>
            </a:r>
          </a:p>
          <a:p>
            <a:pPr>
              <a:buFont typeface="Wingdings" pitchFamily="2" charset="2"/>
              <a:buChar char="Ø"/>
            </a:pPr>
            <a:r>
              <a:rPr lang="en-US" dirty="0" smtClean="0"/>
              <a:t>Artificial Intelligence</a:t>
            </a:r>
          </a:p>
          <a:p>
            <a:pPr>
              <a:buFont typeface="Wingdings" pitchFamily="2" charset="2"/>
              <a:buChar char="Ø"/>
            </a:pPr>
            <a:r>
              <a:rPr lang="en-US" dirty="0" smtClean="0"/>
              <a:t>Video Marketing</a:t>
            </a:r>
          </a:p>
          <a:p>
            <a:pPr>
              <a:buFont typeface="Wingdings" pitchFamily="2" charset="2"/>
              <a:buChar char="Ø"/>
            </a:pPr>
            <a:r>
              <a:rPr lang="en-US" dirty="0" smtClean="0"/>
              <a:t>Long-form content</a:t>
            </a:r>
          </a:p>
          <a:p>
            <a:pPr>
              <a:buFont typeface="Wingdings" pitchFamily="2" charset="2"/>
              <a:buChar char="Ø"/>
            </a:pPr>
            <a:r>
              <a:rPr lang="en-US" dirty="0" smtClean="0"/>
              <a:t>Social Media Shopping</a:t>
            </a:r>
          </a:p>
          <a:p>
            <a:pPr>
              <a:buFont typeface="Wingdings" pitchFamily="2" charset="2"/>
              <a:buChar char="Ø"/>
            </a:pPr>
            <a:r>
              <a:rPr lang="en-US" dirty="0" smtClean="0"/>
              <a:t>Progressive Web Pages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Search Engine Based Marketing </a:t>
            </a:r>
            <a:endParaRPr lang="en-US" dirty="0"/>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Ø"/>
            </a:pPr>
            <a:r>
              <a:rPr lang="en-US" dirty="0" smtClean="0"/>
              <a:t>Search engine optimization (SEO) refers to techniques that help your website rank higher in organic (or “natural”) search results, thus making your website more visible to people who are looking for your product or service via search engines.</a:t>
            </a:r>
          </a:p>
          <a:p>
            <a:pPr>
              <a:buFont typeface="Wingdings" pitchFamily="2" charset="2"/>
              <a:buChar char="Ø"/>
            </a:pPr>
            <a:r>
              <a:rPr lang="en-US" dirty="0" smtClean="0"/>
              <a:t>Search engines perform several activities in order to deliver search results.</a:t>
            </a:r>
          </a:p>
          <a:p>
            <a:pPr lvl="1">
              <a:buFont typeface="Wingdings" pitchFamily="2" charset="2"/>
              <a:buChar char="Ø"/>
            </a:pPr>
            <a:r>
              <a:rPr lang="en-US" dirty="0" smtClean="0"/>
              <a:t>Crawling</a:t>
            </a:r>
          </a:p>
          <a:p>
            <a:pPr lvl="1">
              <a:buFont typeface="Wingdings" pitchFamily="2" charset="2"/>
              <a:buChar char="Ø"/>
            </a:pPr>
            <a:r>
              <a:rPr lang="en-US" dirty="0" smtClean="0"/>
              <a:t>Indexing</a:t>
            </a:r>
          </a:p>
          <a:p>
            <a:pPr lvl="1">
              <a:buFont typeface="Wingdings" pitchFamily="2" charset="2"/>
              <a:buChar char="Ø"/>
            </a:pPr>
            <a:r>
              <a:rPr lang="en-US" dirty="0" smtClean="0"/>
              <a:t>Processing</a:t>
            </a:r>
          </a:p>
          <a:p>
            <a:pPr lvl="1">
              <a:buFont typeface="Wingdings" pitchFamily="2" charset="2"/>
              <a:buChar char="Ø"/>
            </a:pPr>
            <a:r>
              <a:rPr lang="en-US" dirty="0" smtClean="0"/>
              <a:t>Calculating Relevancy</a:t>
            </a:r>
          </a:p>
          <a:p>
            <a:pPr lvl="1">
              <a:buFont typeface="Wingdings" pitchFamily="2" charset="2"/>
              <a:buChar char="Ø"/>
            </a:pPr>
            <a:r>
              <a:rPr lang="en-US" dirty="0" smtClean="0"/>
              <a:t>Retrieving Results</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SEO Process</a:t>
            </a:r>
            <a:endParaRPr lang="en-US" dirty="0"/>
          </a:p>
        </p:txBody>
      </p:sp>
      <p:sp>
        <p:nvSpPr>
          <p:cNvPr id="3" name="Content Placeholder 2"/>
          <p:cNvSpPr>
            <a:spLocks noGrp="1"/>
          </p:cNvSpPr>
          <p:nvPr>
            <p:ph idx="1"/>
          </p:nvPr>
        </p:nvSpPr>
        <p:spPr/>
        <p:txBody>
          <a:bodyPr>
            <a:normAutofit fontScale="70000" lnSpcReduction="20000"/>
          </a:bodyPr>
          <a:lstStyle/>
          <a:p>
            <a:pPr>
              <a:buFont typeface="Wingdings" pitchFamily="2" charset="2"/>
              <a:buChar char="Ø"/>
            </a:pPr>
            <a:r>
              <a:rPr lang="en-US" dirty="0" smtClean="0"/>
              <a:t>Keyword Research</a:t>
            </a:r>
          </a:p>
          <a:p>
            <a:pPr lvl="1">
              <a:buFont typeface="Wingdings" pitchFamily="2" charset="2"/>
              <a:buChar char="Ø"/>
            </a:pPr>
            <a:r>
              <a:rPr lang="en-US" sz="1800" dirty="0" smtClean="0"/>
              <a:t>involves identifying a group of keyword phrases that will be used in optimization.</a:t>
            </a:r>
          </a:p>
          <a:p>
            <a:pPr>
              <a:buFont typeface="Wingdings" pitchFamily="2" charset="2"/>
              <a:buChar char="Ø"/>
            </a:pPr>
            <a:r>
              <a:rPr lang="en-US" dirty="0" smtClean="0"/>
              <a:t>Reporting &amp; Goal Setting</a:t>
            </a:r>
          </a:p>
          <a:p>
            <a:pPr lvl="1">
              <a:buFont typeface="Wingdings" pitchFamily="2" charset="2"/>
              <a:buChar char="Ø"/>
            </a:pPr>
            <a:r>
              <a:rPr lang="en-US" sz="1800" dirty="0" smtClean="0"/>
              <a:t>Site position in result and traffic analysis and set goal to improve</a:t>
            </a:r>
          </a:p>
          <a:p>
            <a:pPr>
              <a:buFont typeface="Wingdings" pitchFamily="2" charset="2"/>
              <a:buChar char="Ø"/>
            </a:pPr>
            <a:r>
              <a:rPr lang="en-US" dirty="0" smtClean="0"/>
              <a:t>Content Building</a:t>
            </a:r>
          </a:p>
          <a:p>
            <a:pPr lvl="1">
              <a:buFont typeface="Wingdings" pitchFamily="2" charset="2"/>
              <a:buChar char="Ø"/>
            </a:pPr>
            <a:r>
              <a:rPr lang="en-US" sz="2000" dirty="0" smtClean="0"/>
              <a:t>Content is king in SEO, high volume, high-quality content related to your business is important</a:t>
            </a:r>
            <a:endParaRPr lang="en-US" sz="1900" dirty="0" smtClean="0"/>
          </a:p>
          <a:p>
            <a:pPr>
              <a:buFont typeface="Wingdings" pitchFamily="2" charset="2"/>
              <a:buChar char="Ø"/>
            </a:pPr>
            <a:r>
              <a:rPr lang="en-US" dirty="0" smtClean="0"/>
              <a:t>Page Optimization</a:t>
            </a:r>
          </a:p>
          <a:p>
            <a:pPr lvl="1">
              <a:buFont typeface="Wingdings" pitchFamily="2" charset="2"/>
              <a:buChar char="Ø"/>
            </a:pPr>
            <a:r>
              <a:rPr lang="en-US" sz="2000" dirty="0" smtClean="0"/>
              <a:t>Page Titles, Text-Based Navigation, Prominence of Targeted Keyword Phrases, Site Map , ALT, and META data</a:t>
            </a:r>
            <a:endParaRPr lang="en-US" sz="1900" dirty="0" smtClean="0"/>
          </a:p>
          <a:p>
            <a:pPr>
              <a:buFont typeface="Wingdings" pitchFamily="2" charset="2"/>
              <a:buChar char="Ø"/>
            </a:pPr>
            <a:r>
              <a:rPr lang="en-US" dirty="0" smtClean="0"/>
              <a:t>Social &amp; Link Building</a:t>
            </a:r>
          </a:p>
          <a:p>
            <a:pPr lvl="1">
              <a:buFont typeface="Wingdings" pitchFamily="2" charset="2"/>
              <a:buChar char="Ø"/>
            </a:pPr>
            <a:r>
              <a:rPr lang="en-US" sz="2000" dirty="0" smtClean="0"/>
              <a:t>online sharing through social media provides tremendous opportunities for companies </a:t>
            </a:r>
            <a:endParaRPr lang="en-US" sz="2100" dirty="0" smtClean="0"/>
          </a:p>
          <a:p>
            <a:pPr>
              <a:buFont typeface="Wingdings" pitchFamily="2" charset="2"/>
              <a:buChar char="Ø"/>
            </a:pPr>
            <a:r>
              <a:rPr lang="en-US" dirty="0" smtClean="0"/>
              <a:t>Follow Up Reporting &amp; Analysis</a:t>
            </a:r>
          </a:p>
          <a:p>
            <a:pPr lvl="1">
              <a:buFont typeface="Wingdings" pitchFamily="2" charset="2"/>
              <a:buChar char="Ø"/>
            </a:pPr>
            <a:r>
              <a:rPr lang="en-US" sz="2000" dirty="0" smtClean="0"/>
              <a:t>On page optimization involves ensuring whether a particular webpage is structured in a manner so that it gets found by the search engines for given keywords and key phrases. </a:t>
            </a:r>
          </a:p>
          <a:p>
            <a:pPr>
              <a:buFont typeface="Wingdings" pitchFamily="2" charset="2"/>
              <a:buChar char="Ø"/>
            </a:pPr>
            <a:r>
              <a:rPr lang="en-US" sz="2500" dirty="0" err="1" smtClean="0"/>
              <a:t>Facebook</a:t>
            </a:r>
            <a:r>
              <a:rPr lang="en-US" sz="2500" dirty="0" smtClean="0"/>
              <a:t>, Twitter, </a:t>
            </a:r>
            <a:r>
              <a:rPr lang="en-US" sz="2500" dirty="0" err="1" smtClean="0"/>
              <a:t>Quora</a:t>
            </a:r>
            <a:r>
              <a:rPr lang="en-US" sz="2500" dirty="0" smtClean="0"/>
              <a:t>, Google+, </a:t>
            </a:r>
            <a:r>
              <a:rPr lang="en-US" sz="2500" dirty="0" err="1" smtClean="0"/>
              <a:t>Redit</a:t>
            </a:r>
            <a:endParaRPr lang="en-US" sz="25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Pay-Per-Click (PPC)</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Ø"/>
            </a:pPr>
            <a:r>
              <a:rPr lang="en-US" dirty="0" smtClean="0"/>
              <a:t>PPC is a model of digital advertising where the advertiser pays a fee each time one of their ads is clicked. Essentially, you’re paying for targeted visits to your website.</a:t>
            </a:r>
          </a:p>
          <a:p>
            <a:pPr>
              <a:buFont typeface="Wingdings" pitchFamily="2" charset="2"/>
              <a:buChar char="Ø"/>
            </a:pPr>
            <a:r>
              <a:rPr lang="en-US" dirty="0" smtClean="0"/>
              <a:t>PPC can be made up of text, images, videos, or a combination. They can appear on search engines, websites, social media platforms, and more.</a:t>
            </a:r>
          </a:p>
          <a:p>
            <a:pPr>
              <a:buFont typeface="Wingdings" pitchFamily="2" charset="2"/>
              <a:buChar char="Ø"/>
            </a:pPr>
            <a:r>
              <a:rPr lang="en-US" dirty="0" smtClean="0"/>
              <a:t>With PPC you can achieve lot doing the following,</a:t>
            </a:r>
          </a:p>
          <a:p>
            <a:pPr lvl="1">
              <a:buFont typeface="Wingdings" pitchFamily="2" charset="2"/>
              <a:buChar char="Ø"/>
            </a:pPr>
            <a:r>
              <a:rPr lang="en-US" sz="2200" dirty="0" smtClean="0"/>
              <a:t>Bid on relevant keywords</a:t>
            </a:r>
          </a:p>
          <a:p>
            <a:pPr lvl="1">
              <a:buFont typeface="Wingdings" pitchFamily="2" charset="2"/>
              <a:buChar char="Ø"/>
            </a:pPr>
            <a:r>
              <a:rPr lang="en-US" sz="2200" dirty="0" smtClean="0"/>
              <a:t>Focus on Quality Landing Page</a:t>
            </a:r>
          </a:p>
          <a:p>
            <a:pPr lvl="1">
              <a:buFont typeface="Wingdings" pitchFamily="2" charset="2"/>
              <a:buChar char="Ø"/>
            </a:pPr>
            <a:r>
              <a:rPr lang="en-US" sz="2200" dirty="0" smtClean="0"/>
              <a:t>Improve Quality Score</a:t>
            </a:r>
          </a:p>
          <a:p>
            <a:pPr>
              <a:buFont typeface="Wingdings" pitchFamily="2" charset="2"/>
              <a:buChar char="Ø"/>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E-Mail Marketing</a:t>
            </a:r>
            <a:endParaRPr lang="en-US" dirty="0"/>
          </a:p>
        </p:txBody>
      </p:sp>
      <p:sp>
        <p:nvSpPr>
          <p:cNvPr id="3" name="Content Placeholder 2"/>
          <p:cNvSpPr>
            <a:spLocks noGrp="1"/>
          </p:cNvSpPr>
          <p:nvPr>
            <p:ph idx="1"/>
          </p:nvPr>
        </p:nvSpPr>
        <p:spPr/>
        <p:txBody>
          <a:bodyPr>
            <a:normAutofit fontScale="62500" lnSpcReduction="20000"/>
          </a:bodyPr>
          <a:lstStyle/>
          <a:p>
            <a:pPr>
              <a:buFont typeface="Wingdings" pitchFamily="2" charset="2"/>
              <a:buChar char="Ø"/>
            </a:pPr>
            <a:r>
              <a:rPr lang="en-US" dirty="0" smtClean="0"/>
              <a:t>E-Mail marketing is promoting your business by sending overt E-Mails and newsletters. It uses promotional letter clubbed with product and service details to deliver the business message to audience. It is cost effective method to convey your message to highly targeted visitors. Results of E-Mail marketing are quantifiable and measurable.</a:t>
            </a:r>
          </a:p>
          <a:p>
            <a:pPr>
              <a:buFont typeface="Wingdings" pitchFamily="2" charset="2"/>
              <a:buChar char="Ø"/>
            </a:pPr>
            <a:r>
              <a:rPr lang="en-US" dirty="0" smtClean="0"/>
              <a:t>Types Of E-Mails</a:t>
            </a:r>
          </a:p>
          <a:p>
            <a:pPr lvl="1">
              <a:buFont typeface="Wingdings" pitchFamily="2" charset="2"/>
              <a:buChar char="Ø"/>
            </a:pPr>
            <a:r>
              <a:rPr lang="en-US" dirty="0" smtClean="0"/>
              <a:t>Transaction E-Mails </a:t>
            </a:r>
          </a:p>
          <a:p>
            <a:pPr lvl="1">
              <a:buFont typeface="Wingdings" pitchFamily="2" charset="2"/>
              <a:buChar char="Ø"/>
            </a:pPr>
            <a:r>
              <a:rPr lang="en-US" dirty="0" smtClean="0"/>
              <a:t>Newsletters</a:t>
            </a:r>
          </a:p>
          <a:p>
            <a:pPr lvl="1">
              <a:buFont typeface="Wingdings" pitchFamily="2" charset="2"/>
              <a:buChar char="Ø"/>
            </a:pPr>
            <a:r>
              <a:rPr lang="en-US" dirty="0" smtClean="0"/>
              <a:t>Promotion E-Mails </a:t>
            </a:r>
          </a:p>
          <a:p>
            <a:pPr>
              <a:buFont typeface="Wingdings" pitchFamily="2" charset="2"/>
              <a:buChar char="Ø"/>
            </a:pPr>
            <a:r>
              <a:rPr lang="en-US" dirty="0" smtClean="0"/>
              <a:t>Tracking an E-Mail Marketing Campaign</a:t>
            </a:r>
          </a:p>
          <a:p>
            <a:pPr lvl="1">
              <a:buFont typeface="Wingdings" pitchFamily="2" charset="2"/>
              <a:buChar char="Ø"/>
            </a:pPr>
            <a:r>
              <a:rPr lang="en-US" dirty="0" smtClean="0"/>
              <a:t>Click Through Rate</a:t>
            </a:r>
          </a:p>
          <a:p>
            <a:pPr lvl="1">
              <a:buFont typeface="Wingdings" pitchFamily="2" charset="2"/>
              <a:buChar char="Ø"/>
            </a:pPr>
            <a:r>
              <a:rPr lang="en-US" dirty="0" smtClean="0"/>
              <a:t>Conversion Rate</a:t>
            </a:r>
          </a:p>
          <a:p>
            <a:pPr lvl="1">
              <a:buFont typeface="Wingdings" pitchFamily="2" charset="2"/>
              <a:buChar char="Ø"/>
            </a:pPr>
            <a:r>
              <a:rPr lang="en-US" dirty="0" smtClean="0"/>
              <a:t>Bounce Rate</a:t>
            </a:r>
          </a:p>
          <a:p>
            <a:pPr lvl="1">
              <a:buFont typeface="Wingdings" pitchFamily="2" charset="2"/>
              <a:buChar char="Ø"/>
            </a:pPr>
            <a:r>
              <a:rPr lang="en-US" dirty="0" smtClean="0"/>
              <a:t>Subscribers’ Growth Rate</a:t>
            </a:r>
          </a:p>
          <a:p>
            <a:pPr lvl="1">
              <a:buFont typeface="Wingdings" pitchFamily="2" charset="2"/>
              <a:buChar char="Ø"/>
            </a:pPr>
            <a:r>
              <a:rPr lang="en-US" dirty="0" smtClean="0"/>
              <a:t>Email Forwarding Rate</a:t>
            </a:r>
          </a:p>
          <a:p>
            <a:pPr lvl="1">
              <a:buFont typeface="Wingdings" pitchFamily="2" charset="2"/>
              <a:buChar char="Ø"/>
            </a:pPr>
            <a:r>
              <a:rPr lang="en-US" dirty="0" smtClean="0"/>
              <a:t>Overall ROI</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Setting Up an E-Mail Marketing Campaign</a:t>
            </a:r>
            <a:endParaRPr lang="en-US" sz="3200" dirty="0"/>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sz="2000" dirty="0" smtClean="0"/>
              <a:t>Create a database of customers. You can buy it or can generate from your website backend. Embed the customer details such as contact information, client status, lead source, etc. </a:t>
            </a:r>
          </a:p>
          <a:p>
            <a:pPr>
              <a:buFont typeface="Wingdings" pitchFamily="2" charset="2"/>
              <a:buChar char="Ø"/>
            </a:pPr>
            <a:r>
              <a:rPr lang="en-US" sz="2000" dirty="0" smtClean="0"/>
              <a:t>Create a newsletter. Put in the relevant information they may need. Set the subject line timings and frequency. Add discounts and bonus you offer.</a:t>
            </a:r>
          </a:p>
          <a:p>
            <a:pPr>
              <a:buFont typeface="Wingdings" pitchFamily="2" charset="2"/>
              <a:buChar char="Ø"/>
            </a:pPr>
            <a:r>
              <a:rPr lang="en-US" sz="2000" dirty="0" smtClean="0"/>
              <a:t>Make it look eye-catchy, informational, and useful.</a:t>
            </a:r>
          </a:p>
          <a:p>
            <a:pPr>
              <a:buFont typeface="Wingdings" pitchFamily="2" charset="2"/>
              <a:buChar char="Ø"/>
            </a:pPr>
            <a:r>
              <a:rPr lang="en-US" sz="2000" dirty="0" smtClean="0"/>
              <a:t>Mention deal expiry date and time.</a:t>
            </a:r>
          </a:p>
          <a:p>
            <a:pPr>
              <a:buFont typeface="Wingdings" pitchFamily="2" charset="2"/>
              <a:buChar char="Ø"/>
            </a:pPr>
            <a:r>
              <a:rPr lang="en-US" sz="2000" dirty="0" smtClean="0"/>
              <a:t>Drop a link in email if necessary.</a:t>
            </a:r>
          </a:p>
          <a:p>
            <a:pPr>
              <a:buFont typeface="Wingdings" pitchFamily="2" charset="2"/>
              <a:buChar char="Ø"/>
            </a:pPr>
            <a:r>
              <a:rPr lang="en-US" sz="2000" dirty="0" smtClean="0"/>
              <a:t>Buy servers capable enough to bear the load.</a:t>
            </a:r>
          </a:p>
          <a:p>
            <a:pPr>
              <a:buFont typeface="Wingdings" pitchFamily="2" charset="2"/>
              <a:buChar char="Ø"/>
            </a:pPr>
            <a:r>
              <a:rPr lang="en-US" sz="2000" dirty="0" smtClean="0"/>
              <a:t>Test you email before you send it. Check all details, images, and links.</a:t>
            </a:r>
          </a:p>
          <a:p>
            <a:pPr>
              <a:buFont typeface="Wingdings" pitchFamily="2" charset="2"/>
              <a:buChar char="Ø"/>
            </a:pPr>
            <a:r>
              <a:rPr lang="en-US" sz="2000" dirty="0" smtClean="0"/>
              <a:t>Deploy your newsletter.</a:t>
            </a:r>
          </a:p>
          <a:p>
            <a:pPr>
              <a:buFont typeface="Wingdings" pitchFamily="2" charset="2"/>
              <a:buChar char="Ø"/>
            </a:pPr>
            <a:r>
              <a:rPr lang="en-US" sz="2000" dirty="0" smtClean="0"/>
              <a:t>Analyze the performance of E-mail advertise. For example, E-mail delivery rate, email opening rate, conversions etc.</a:t>
            </a:r>
            <a:endParaRPr lang="en-US" sz="2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Mobile Marketing</a:t>
            </a:r>
            <a:endParaRPr lang="en-US" sz="3600"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sz="2000" dirty="0" smtClean="0"/>
              <a:t>Mobile marketing is a multi-channel, digital marketing strategy aimed at reaching a target audience on their </a:t>
            </a:r>
            <a:r>
              <a:rPr lang="en-US" sz="2000" dirty="0" err="1" smtClean="0"/>
              <a:t>smartphones</a:t>
            </a:r>
            <a:r>
              <a:rPr lang="en-US" sz="2000" dirty="0" smtClean="0"/>
              <a:t>, tablets, and/or other mobile devices, via websites, email, SMS and MMS, social media, and apps. </a:t>
            </a:r>
          </a:p>
          <a:p>
            <a:pPr>
              <a:buFont typeface="Wingdings" pitchFamily="2" charset="2"/>
              <a:buChar char="Ø"/>
            </a:pPr>
            <a:r>
              <a:rPr lang="en-US" sz="2000" dirty="0" smtClean="0"/>
              <a:t>Mobile is disrupting the way people engage with brands. Everything that can be done on a desktop computer is now available on a mobile device. From opening an email to visiting your website to reading your content, it's all accessible through a small mobile screen. </a:t>
            </a:r>
          </a:p>
          <a:p>
            <a:pPr>
              <a:buFont typeface="Wingdings" pitchFamily="2" charset="2"/>
              <a:buChar char="Ø"/>
            </a:pPr>
            <a:r>
              <a:rPr lang="en-US" sz="2000" dirty="0" smtClean="0"/>
              <a:t>80% of internet users own a </a:t>
            </a:r>
            <a:r>
              <a:rPr lang="en-US" sz="2000" dirty="0" err="1" smtClean="0"/>
              <a:t>smartphone</a:t>
            </a:r>
            <a:r>
              <a:rPr lang="en-US" sz="2000" dirty="0" smtClean="0"/>
              <a:t>.</a:t>
            </a:r>
          </a:p>
          <a:p>
            <a:pPr>
              <a:buFont typeface="Wingdings" pitchFamily="2" charset="2"/>
              <a:buChar char="Ø"/>
            </a:pPr>
            <a:r>
              <a:rPr lang="en-US" sz="2000" dirty="0" smtClean="0"/>
              <a:t>Mobile platforms, such as </a:t>
            </a:r>
            <a:r>
              <a:rPr lang="en-US" sz="2000" dirty="0" err="1" smtClean="0"/>
              <a:t>smartphones</a:t>
            </a:r>
            <a:r>
              <a:rPr lang="en-US" sz="2000" dirty="0" smtClean="0"/>
              <a:t> and tablets, host up to 60% of digital media time for users in the U.S.</a:t>
            </a:r>
          </a:p>
          <a:p>
            <a:pPr>
              <a:buFont typeface="Wingdings" pitchFamily="2" charset="2"/>
              <a:buChar char="Ø"/>
            </a:pPr>
            <a:r>
              <a:rPr lang="en-US" sz="2000" dirty="0" smtClean="0"/>
              <a:t>Google search queries on mobile devices surpassed desktop searches.</a:t>
            </a:r>
            <a:endParaRPr 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Types of Mobile Marketing Strategies</a:t>
            </a:r>
            <a:endParaRPr lang="en-US" sz="3600" dirty="0"/>
          </a:p>
        </p:txBody>
      </p:sp>
      <p:sp>
        <p:nvSpPr>
          <p:cNvPr id="3" name="Content Placeholder 2"/>
          <p:cNvSpPr>
            <a:spLocks noGrp="1"/>
          </p:cNvSpPr>
          <p:nvPr>
            <p:ph idx="1"/>
          </p:nvPr>
        </p:nvSpPr>
        <p:spPr/>
        <p:txBody>
          <a:bodyPr>
            <a:normAutofit/>
          </a:bodyPr>
          <a:lstStyle/>
          <a:p>
            <a:pPr>
              <a:buFont typeface="Wingdings" pitchFamily="2" charset="2"/>
              <a:buChar char="Ø"/>
            </a:pPr>
            <a:r>
              <a:rPr lang="en-US" sz="2000" dirty="0" smtClean="0"/>
              <a:t>App-based marketing</a:t>
            </a:r>
          </a:p>
          <a:p>
            <a:pPr>
              <a:buFont typeface="Wingdings" pitchFamily="2" charset="2"/>
              <a:buChar char="Ø"/>
            </a:pPr>
            <a:r>
              <a:rPr lang="en-US" sz="2000" dirty="0" smtClean="0"/>
              <a:t>In-game mobile marketing</a:t>
            </a:r>
          </a:p>
          <a:p>
            <a:pPr>
              <a:buFont typeface="Wingdings" pitchFamily="2" charset="2"/>
              <a:buChar char="Ø"/>
            </a:pPr>
            <a:r>
              <a:rPr lang="en-US" sz="2000" dirty="0" smtClean="0"/>
              <a:t>QR codes</a:t>
            </a:r>
          </a:p>
          <a:p>
            <a:pPr>
              <a:buFont typeface="Wingdings" pitchFamily="2" charset="2"/>
              <a:buChar char="Ø"/>
            </a:pPr>
            <a:r>
              <a:rPr lang="en-US" sz="2000" dirty="0" smtClean="0"/>
              <a:t>Location-based marketing</a:t>
            </a:r>
          </a:p>
          <a:p>
            <a:pPr>
              <a:buFont typeface="Wingdings" pitchFamily="2" charset="2"/>
              <a:buChar char="Ø"/>
            </a:pPr>
            <a:r>
              <a:rPr lang="en-US" sz="2000" dirty="0" smtClean="0"/>
              <a:t>Mobile search ads</a:t>
            </a:r>
          </a:p>
          <a:p>
            <a:pPr>
              <a:buFont typeface="Wingdings" pitchFamily="2" charset="2"/>
              <a:buChar char="Ø"/>
            </a:pPr>
            <a:r>
              <a:rPr lang="en-US" sz="2000" dirty="0" smtClean="0"/>
              <a:t>Mobile app</a:t>
            </a:r>
          </a:p>
          <a:p>
            <a:pPr>
              <a:buFont typeface="Wingdings" pitchFamily="2" charset="2"/>
              <a:buChar char="Ø"/>
            </a:pPr>
            <a:r>
              <a:rPr lang="en-US" sz="2000" b="1" dirty="0" smtClean="0"/>
              <a:t>SMS campaigns</a:t>
            </a:r>
          </a:p>
          <a:p>
            <a:pPr lvl="1">
              <a:buFont typeface="Wingdings" pitchFamily="2" charset="2"/>
              <a:buChar char="Ø"/>
            </a:pPr>
            <a:r>
              <a:rPr lang="en-US" sz="1600" dirty="0" smtClean="0"/>
              <a:t>Extra ordinary open rates: 98% </a:t>
            </a:r>
            <a:r>
              <a:rPr lang="en-US" sz="1600" dirty="0" err="1" smtClean="0"/>
              <a:t>sms</a:t>
            </a:r>
            <a:r>
              <a:rPr lang="en-US" sz="1600" dirty="0" smtClean="0"/>
              <a:t> are getting read. 45% get responded.</a:t>
            </a:r>
          </a:p>
          <a:p>
            <a:pPr lvl="1">
              <a:buFont typeface="Wingdings" pitchFamily="2" charset="2"/>
              <a:buChar char="Ø"/>
            </a:pPr>
            <a:r>
              <a:rPr lang="en-US" sz="1600" dirty="0" smtClean="0"/>
              <a:t>Drives customers to take action.</a:t>
            </a:r>
          </a:p>
          <a:p>
            <a:pPr lvl="1">
              <a:buFont typeface="Wingdings" pitchFamily="2" charset="2"/>
              <a:buChar char="Ø"/>
            </a:pPr>
            <a:r>
              <a:rPr lang="en-US" sz="1600" dirty="0" smtClean="0"/>
              <a:t>Easy &amp; instant: created using plain text and read with in 3 minutes.</a:t>
            </a:r>
          </a:p>
          <a:p>
            <a:pPr lvl="1">
              <a:buFont typeface="Wingdings" pitchFamily="2" charset="2"/>
              <a:buChar char="Ø"/>
            </a:pPr>
            <a:r>
              <a:rPr lang="en-US" sz="1600" dirty="0" smtClean="0"/>
              <a:t>Multifunctional: used to inform new products, services, provide updates, notifications.</a:t>
            </a:r>
          </a:p>
          <a:p>
            <a:pPr lvl="1">
              <a:buFont typeface="Wingdings" pitchFamily="2" charset="2"/>
              <a:buChar char="Ø"/>
            </a:pPr>
            <a:r>
              <a:rPr lang="en-US" sz="1600" dirty="0" smtClean="0"/>
              <a:t>Works well with other channels: example SMS reminds to open the email offer sent earlier </a:t>
            </a:r>
            <a:endParaRPr lang="en-US" sz="16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Social Media Marketing </a:t>
            </a:r>
            <a:endParaRPr lang="en-US" sz="3600" dirty="0"/>
          </a:p>
        </p:txBody>
      </p:sp>
      <p:sp>
        <p:nvSpPr>
          <p:cNvPr id="3" name="Content Placeholder 2"/>
          <p:cNvSpPr>
            <a:spLocks noGrp="1"/>
          </p:cNvSpPr>
          <p:nvPr>
            <p:ph idx="1"/>
          </p:nvPr>
        </p:nvSpPr>
        <p:spPr/>
        <p:txBody>
          <a:bodyPr>
            <a:normAutofit fontScale="85000" lnSpcReduction="20000"/>
          </a:bodyPr>
          <a:lstStyle/>
          <a:p>
            <a:pPr>
              <a:buFont typeface="Wingdings" pitchFamily="2" charset="2"/>
              <a:buChar char="Ø"/>
            </a:pPr>
            <a:r>
              <a:rPr lang="en-US" sz="2000" dirty="0" smtClean="0"/>
              <a:t>Social media marketing, or SMM, is a form of internet marketing that involves creating and sharing content on social media networks in order to achieve your marketing and branding </a:t>
            </a:r>
            <a:r>
              <a:rPr lang="en-US" sz="2000" dirty="0" err="1" smtClean="0"/>
              <a:t>goals.Social</a:t>
            </a:r>
            <a:r>
              <a:rPr lang="en-US" sz="2000" dirty="0" smtClean="0"/>
              <a:t> media marketing includes activities like posting text and image updates, videos, and </a:t>
            </a:r>
            <a:r>
              <a:rPr lang="en-US" sz="2000" dirty="0" err="1" smtClean="0"/>
              <a:t>and</a:t>
            </a:r>
            <a:r>
              <a:rPr lang="en-US" sz="2000" dirty="0" smtClean="0"/>
              <a:t> other content that drives audience engagement, as well as paid social media advertising. </a:t>
            </a:r>
          </a:p>
          <a:p>
            <a:pPr>
              <a:buFont typeface="Wingdings" pitchFamily="2" charset="2"/>
              <a:buChar char="Ø"/>
            </a:pPr>
            <a:r>
              <a:rPr lang="en-US" sz="2000" dirty="0" smtClean="0"/>
              <a:t>The goal of SMM is to produce content that users will share with their social network to help a company increase brand exposure and broaden customer reach.</a:t>
            </a:r>
          </a:p>
          <a:p>
            <a:pPr>
              <a:buFont typeface="Wingdings" pitchFamily="2" charset="2"/>
              <a:buChar char="Ø"/>
            </a:pPr>
            <a:r>
              <a:rPr lang="en-US" sz="2000" dirty="0" smtClean="0"/>
              <a:t>Social Media Optimization (SMO) is a strategy for drawing new and unique visitors to a website. SMO can be by adding social media links to content, such as RSS feeds and sharing buttons (or) promoting activity through social media by updating statuses or tweets, or blog posts. </a:t>
            </a:r>
          </a:p>
          <a:p>
            <a:pPr>
              <a:buFont typeface="Wingdings" pitchFamily="2" charset="2"/>
              <a:buChar char="Ø"/>
            </a:pPr>
            <a:r>
              <a:rPr lang="en-US" sz="2000" dirty="0" smtClean="0"/>
              <a:t>Social CRM: SMM helps a company get direct feedback from customers. The interactive parts of social media give customers the opportunity to ask questions or voice complaints and feel they are being heard.</a:t>
            </a:r>
          </a:p>
          <a:p>
            <a:pPr>
              <a:buFont typeface="Wingdings" pitchFamily="2" charset="2"/>
              <a:buChar char="Ø"/>
            </a:pPr>
            <a:r>
              <a:rPr lang="en-US" sz="2000" dirty="0" smtClean="0"/>
              <a:t>SMM became more common with the increased popularity of websites such as Twitter, </a:t>
            </a:r>
            <a:r>
              <a:rPr lang="en-US" sz="2000" dirty="0" err="1" smtClean="0"/>
              <a:t>Facebook</a:t>
            </a:r>
            <a:r>
              <a:rPr lang="en-US" sz="2000" dirty="0" smtClean="0"/>
              <a:t>, </a:t>
            </a:r>
            <a:r>
              <a:rPr lang="en-US" sz="2000" dirty="0" err="1" smtClean="0"/>
              <a:t>Myspace</a:t>
            </a:r>
            <a:r>
              <a:rPr lang="en-US" sz="2000" dirty="0" smtClean="0"/>
              <a:t>, LinkedIn, and YouTube.</a:t>
            </a:r>
          </a:p>
          <a:p>
            <a:pPr>
              <a:buFont typeface="Wingdings" pitchFamily="2" charset="2"/>
              <a:buChar char="Ø"/>
            </a:pPr>
            <a:r>
              <a:rPr lang="en-US" sz="2000" dirty="0" smtClean="0"/>
              <a:t>Social Media Marketing Tools: </a:t>
            </a:r>
            <a:r>
              <a:rPr lang="en-US" sz="2000" dirty="0" err="1" smtClean="0"/>
              <a:t>HootSuite</a:t>
            </a:r>
            <a:r>
              <a:rPr lang="en-US" sz="2000" dirty="0" smtClean="0"/>
              <a:t>, </a:t>
            </a:r>
            <a:r>
              <a:rPr lang="en-US" sz="2000" dirty="0" err="1" smtClean="0"/>
              <a:t>HubSpot</a:t>
            </a:r>
            <a:r>
              <a:rPr lang="en-US" sz="2000" dirty="0" smtClean="0"/>
              <a:t>, </a:t>
            </a:r>
            <a:r>
              <a:rPr lang="en-US" sz="2000" dirty="0" err="1" smtClean="0"/>
              <a:t>MeetEdgar</a:t>
            </a:r>
            <a:r>
              <a:rPr lang="en-US" sz="2000" dirty="0" smtClean="0"/>
              <a:t>, </a:t>
            </a:r>
            <a:r>
              <a:rPr lang="en-US" sz="2000" dirty="0" err="1" smtClean="0"/>
              <a:t>tweetdeck</a:t>
            </a:r>
            <a:r>
              <a:rPr lang="en-US" sz="2000" dirty="0" smtClean="0"/>
              <a:t>, IFTTT, Buffer, </a:t>
            </a:r>
            <a:r>
              <a:rPr lang="en-US" sz="2000" dirty="0" err="1" smtClean="0"/>
              <a:t>SpourtSocial</a:t>
            </a:r>
            <a:r>
              <a:rPr lang="en-US" sz="2000" dirty="0" smtClean="0"/>
              <a:t>, </a:t>
            </a:r>
            <a:r>
              <a:rPr lang="en-US" sz="2000" dirty="0" err="1" smtClean="0"/>
              <a:t>Canva</a:t>
            </a:r>
            <a:r>
              <a:rPr lang="en-US" sz="2000" dirty="0" smtClean="0"/>
              <a:t>, Adobe Post, </a:t>
            </a:r>
            <a:r>
              <a:rPr lang="en-US" sz="2000" dirty="0" err="1" smtClean="0"/>
              <a:t>BundlePost</a:t>
            </a:r>
            <a:r>
              <a:rPr lang="en-US" sz="2000" dirty="0" smtClean="0"/>
              <a:t>, </a:t>
            </a:r>
            <a:r>
              <a:rPr lang="en-US" sz="2000" dirty="0" err="1" smtClean="0"/>
              <a:t>MailChimp</a:t>
            </a:r>
            <a:r>
              <a:rPr lang="en-US" sz="2000" dirty="0" smtClean="0"/>
              <a:t>, </a:t>
            </a:r>
            <a:r>
              <a:rPr lang="en-US" sz="2000" dirty="0" err="1" smtClean="0"/>
              <a:t>Brevo</a:t>
            </a:r>
            <a:r>
              <a:rPr lang="en-US" sz="2000" dirty="0" smtClean="0"/>
              <a:t>, etc.,</a:t>
            </a:r>
          </a:p>
          <a:p>
            <a:pPr>
              <a:buFont typeface="Wingdings" pitchFamily="2" charset="2"/>
              <a:buChar char="Ø"/>
            </a:pPr>
            <a:endParaRPr 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Media Marketing</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Blogging</a:t>
            </a:r>
          </a:p>
          <a:p>
            <a:pPr lvl="1"/>
            <a:r>
              <a:rPr lang="en-US" dirty="0" smtClean="0"/>
              <a:t>Blogging is the process of adding new content to a blog and updating it at regular intervals. </a:t>
            </a:r>
          </a:p>
          <a:p>
            <a:pPr lvl="1"/>
            <a:r>
              <a:rPr lang="en-US" dirty="0" smtClean="0"/>
              <a:t>Platforms: </a:t>
            </a:r>
            <a:r>
              <a:rPr lang="en-US" dirty="0" err="1" smtClean="0"/>
              <a:t>WordPress</a:t>
            </a:r>
            <a:r>
              <a:rPr lang="en-US" dirty="0" smtClean="0"/>
              <a:t>, BlogSpot, Medium, </a:t>
            </a:r>
            <a:r>
              <a:rPr lang="en-US" dirty="0" err="1" smtClean="0"/>
              <a:t>Tumblr</a:t>
            </a:r>
            <a:endParaRPr lang="en-US" dirty="0" smtClean="0"/>
          </a:p>
          <a:p>
            <a:pPr lvl="1"/>
            <a:r>
              <a:rPr lang="en-US" dirty="0" smtClean="0"/>
              <a:t>Advantages of Blogging: </a:t>
            </a:r>
          </a:p>
          <a:p>
            <a:pPr lvl="2"/>
            <a:r>
              <a:rPr lang="en-US" dirty="0" smtClean="0"/>
              <a:t>Maintaining a blog can help improve your writing skills. • A blogger can easily become a published author. • You can get instant feedbacks in the form of comments, shares, etc. • Bloggers can be sound learners, as they tend to read and engage more in such content. • Get a long fan following list. • Blogs can help you build a strong network. • Maintaining a blog can help you improve your technical skills on Word press, SEO, etc. • Sell Online − Blogs can be a great virtual store.</a:t>
            </a:r>
          </a:p>
          <a:p>
            <a:pPr lvl="1"/>
            <a:r>
              <a:rPr lang="en-US" dirty="0" smtClean="0"/>
              <a:t>Promoting Blog:</a:t>
            </a:r>
          </a:p>
          <a:p>
            <a:pPr lvl="2"/>
            <a:r>
              <a:rPr lang="en-US" dirty="0" smtClean="0"/>
              <a:t>Connect your blog to Google+ to allow auto-sharing. • Post quality content and post regularly. • Write search engine friendly content. • Have an Email button in order to receive feedback from your readers. • Use your blog link in mail signatures. • Enable site feed to let more and more people subscribe to your content. • Add your blog to Blogger’s listings. Submit your URL to blog directories. • Actively comment on other’s posts. This way, your profile gets more exposure. • Participate in online forums. • Use social media for branding. • Hold a contest or a carnival. • Write as a guest blogger. • Write multiple pages and link them together.</a:t>
            </a:r>
          </a:p>
          <a:p>
            <a:pPr lvl="1"/>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Media Marketing</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Video Marketing</a:t>
            </a:r>
          </a:p>
          <a:p>
            <a:pPr lvl="1"/>
            <a:r>
              <a:rPr lang="en-US" dirty="0" err="1" smtClean="0"/>
              <a:t>Youtube</a:t>
            </a:r>
            <a:r>
              <a:rPr lang="en-US" dirty="0" smtClean="0"/>
              <a:t>, </a:t>
            </a:r>
            <a:r>
              <a:rPr lang="en-US" dirty="0" err="1" smtClean="0"/>
              <a:t>SmartPhones</a:t>
            </a:r>
            <a:endParaRPr lang="en-US" dirty="0" smtClean="0"/>
          </a:p>
          <a:p>
            <a:pPr lvl="1"/>
            <a:r>
              <a:rPr lang="en-US" dirty="0" smtClean="0"/>
              <a:t>Effective video marketing campaign</a:t>
            </a:r>
          </a:p>
          <a:p>
            <a:pPr lvl="2"/>
            <a:r>
              <a:rPr lang="en-US" dirty="0" smtClean="0"/>
              <a:t>Designate your resources</a:t>
            </a:r>
          </a:p>
          <a:p>
            <a:pPr lvl="2"/>
            <a:r>
              <a:rPr lang="en-US" dirty="0" smtClean="0"/>
              <a:t>Build your story</a:t>
            </a:r>
          </a:p>
          <a:p>
            <a:pPr lvl="2"/>
            <a:r>
              <a:rPr lang="en-US" dirty="0" smtClean="0"/>
              <a:t>Plan your audience engagement</a:t>
            </a:r>
          </a:p>
          <a:p>
            <a:pPr lvl="2"/>
            <a:r>
              <a:rPr lang="en-US" dirty="0" smtClean="0"/>
              <a:t>Shorter is better</a:t>
            </a:r>
          </a:p>
          <a:p>
            <a:pPr lvl="2"/>
            <a:r>
              <a:rPr lang="en-US" dirty="0" smtClean="0"/>
              <a:t>Publish your message everywhere</a:t>
            </a:r>
          </a:p>
          <a:p>
            <a:pPr lvl="2"/>
            <a:r>
              <a:rPr lang="en-US" dirty="0" smtClean="0"/>
              <a:t>Track the results</a:t>
            </a:r>
          </a:p>
          <a:p>
            <a:pPr lvl="1"/>
            <a:r>
              <a:rPr lang="en-US" dirty="0" smtClean="0"/>
              <a:t>Types of Video Used in Marketing</a:t>
            </a:r>
          </a:p>
          <a:p>
            <a:pPr lvl="2"/>
            <a:r>
              <a:rPr lang="en-US" dirty="0" smtClean="0"/>
              <a:t>Animation, Augmented reality videos, Brand videos, Demo videos</a:t>
            </a:r>
          </a:p>
          <a:p>
            <a:pPr lvl="2"/>
            <a:r>
              <a:rPr lang="en-US" dirty="0" smtClean="0"/>
              <a:t>Event videos, Explanation videos, How - to videos, Interviewing experts</a:t>
            </a:r>
          </a:p>
          <a:p>
            <a:pPr lvl="2"/>
            <a:r>
              <a:rPr lang="en-US" dirty="0" err="1" smtClean="0"/>
              <a:t>Livestream</a:t>
            </a:r>
            <a:r>
              <a:rPr lang="en-US" dirty="0" smtClean="0"/>
              <a:t>, Personalized message videos, Testimonials/Case Studies</a:t>
            </a:r>
          </a:p>
          <a:p>
            <a:pPr lvl="2"/>
            <a:r>
              <a:rPr lang="en-US" dirty="0" smtClean="0"/>
              <a:t>Virtual Reality and 360-degree videos </a:t>
            </a:r>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Customer Relationship Management</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CRM </a:t>
            </a:r>
          </a:p>
          <a:p>
            <a:pPr lvl="1"/>
            <a:r>
              <a:rPr lang="en-US" dirty="0" smtClean="0"/>
              <a:t>• Record customer data for future references </a:t>
            </a:r>
          </a:p>
          <a:p>
            <a:pPr lvl="1"/>
            <a:r>
              <a:rPr lang="en-US" dirty="0" smtClean="0"/>
              <a:t>• Track sales figures and determine what promotions are being the most productive </a:t>
            </a:r>
          </a:p>
          <a:p>
            <a:pPr lvl="1"/>
            <a:r>
              <a:rPr lang="en-US" dirty="0" smtClean="0"/>
              <a:t>• Keep every member of a sales team updated with customer information, potential client leads, and pertinent information they need to close sales </a:t>
            </a:r>
          </a:p>
          <a:p>
            <a:pPr lvl="1"/>
            <a:r>
              <a:rPr lang="en-US" dirty="0" smtClean="0"/>
              <a:t>• Improve follow-ups and gain customer approval </a:t>
            </a:r>
          </a:p>
          <a:p>
            <a:pPr lvl="1"/>
            <a:r>
              <a:rPr lang="en-US" dirty="0" smtClean="0"/>
              <a:t>• Connect members of your sales team to the clients using GPS technology </a:t>
            </a:r>
          </a:p>
          <a:p>
            <a:pPr lvl="1"/>
            <a:r>
              <a:rPr lang="en-US" dirty="0" smtClean="0"/>
              <a:t>• Allow the sharing of files and information between sales team members so when one team member cannot make a follow-up or complete a promise they made to a client another team member can step in and make the customer happy.</a:t>
            </a:r>
          </a:p>
          <a:p>
            <a:pPr lvl="1"/>
            <a:r>
              <a:rPr lang="en-US" dirty="0" smtClean="0"/>
              <a:t>Importance of CRM in Digital Marketing</a:t>
            </a:r>
          </a:p>
          <a:p>
            <a:pPr lvl="2"/>
            <a:r>
              <a:rPr lang="en-US" dirty="0" smtClean="0"/>
              <a:t>Tailor the DM Strategies with CRM</a:t>
            </a:r>
          </a:p>
          <a:p>
            <a:pPr lvl="2"/>
            <a:r>
              <a:rPr lang="en-US" dirty="0" smtClean="0"/>
              <a:t>Connect CRM to Personalized Digital Marketing</a:t>
            </a:r>
          </a:p>
          <a:p>
            <a:pPr lvl="2"/>
            <a:r>
              <a:rPr lang="en-US" dirty="0" smtClean="0"/>
              <a:t>Digital connections, recommendation based on interest</a:t>
            </a:r>
          </a:p>
          <a:p>
            <a:pPr lvl="2"/>
            <a:r>
              <a:rPr lang="en-US" dirty="0" smtClean="0"/>
              <a:t>Satisfaction Guarantee, after service like, dislike, feedback</a:t>
            </a:r>
          </a:p>
          <a:p>
            <a:pPr lvl="2"/>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DIGITAL MARKETING STRATERGY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A digital marketing strategy is a set of planned actions performed online to reach specific business goals. In simple terms, this means performing consistent actions at the right time via the most suitable online channels to increase revenue and improve relationships with your audience.</a:t>
            </a:r>
          </a:p>
          <a:p>
            <a:r>
              <a:rPr lang="en-US" dirty="0" smtClean="0"/>
              <a:t>Competitor Analysis </a:t>
            </a:r>
          </a:p>
          <a:p>
            <a:pPr lvl="1"/>
            <a:r>
              <a:rPr lang="en-US" dirty="0" smtClean="0"/>
              <a:t>Identify Competitors</a:t>
            </a:r>
          </a:p>
          <a:p>
            <a:pPr lvl="1"/>
            <a:r>
              <a:rPr lang="en-US" dirty="0" smtClean="0"/>
              <a:t>Investigate Competitors’ Social Media Ads Strategy</a:t>
            </a:r>
          </a:p>
          <a:p>
            <a:pPr lvl="1"/>
            <a:r>
              <a:rPr lang="en-US" dirty="0" smtClean="0"/>
              <a:t>Benchmark Competitors’ Google Ads </a:t>
            </a:r>
          </a:p>
          <a:p>
            <a:pPr lvl="1"/>
            <a:r>
              <a:rPr lang="en-US" dirty="0" smtClean="0"/>
              <a:t>SEO Tools to Track Competitors’ Organic Performance</a:t>
            </a:r>
          </a:p>
          <a:p>
            <a:pPr lvl="1"/>
            <a:r>
              <a:rPr lang="en-US" dirty="0" smtClean="0"/>
              <a:t>Evaluate Competitors’ Content Marketing</a:t>
            </a:r>
          </a:p>
          <a:p>
            <a:pPr lvl="1"/>
            <a:r>
              <a:rPr lang="en-US" dirty="0" smtClean="0"/>
              <a:t>Map Out Challenges and Opportunities With a SWOT Analysis</a:t>
            </a:r>
          </a:p>
          <a:p>
            <a:pPr lvl="1"/>
            <a:r>
              <a:rPr lang="en-US" dirty="0" smtClean="0"/>
              <a:t>Latent Semantic Indexing, to prevent from spam, reduce bounce rate, helps to better ranking</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 Store Optimization (ASO)</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App store optimization is the process of optimizing mobile apps to rank higher in an app store’s search results. </a:t>
            </a:r>
          </a:p>
          <a:p>
            <a:r>
              <a:rPr lang="en-US" dirty="0" smtClean="0"/>
              <a:t>The higher your app ranks in an app store’s search results, the more visible it is to potential customers.</a:t>
            </a:r>
          </a:p>
          <a:p>
            <a:r>
              <a:rPr lang="en-US" dirty="0" smtClean="0"/>
              <a:t>That increased visibility tends to translate into more traffic to your app’s page in the app store. </a:t>
            </a:r>
          </a:p>
          <a:p>
            <a:r>
              <a:rPr lang="en-US" dirty="0" smtClean="0"/>
              <a:t>App Store Optimization (ASO) factors to pay attention to include: ➢ App name and title ➢ Keywords ➢ Description ➢ Subtitle ➢ Total number of downloads ➢ Ratings and reviews</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Career options in digital marketing</a:t>
            </a:r>
            <a:endParaRPr lang="en-US" dirty="0"/>
          </a:p>
        </p:txBody>
      </p:sp>
      <p:sp>
        <p:nvSpPr>
          <p:cNvPr id="3" name="Content Placeholder 2"/>
          <p:cNvSpPr>
            <a:spLocks noGrp="1"/>
          </p:cNvSpPr>
          <p:nvPr>
            <p:ph idx="1"/>
          </p:nvPr>
        </p:nvSpPr>
        <p:spPr/>
        <p:txBody>
          <a:bodyPr>
            <a:normAutofit fontScale="55000" lnSpcReduction="20000"/>
          </a:bodyPr>
          <a:lstStyle/>
          <a:p>
            <a:pPr marL="514350" indent="-514350">
              <a:buAutoNum type="arabicPeriod"/>
            </a:pPr>
            <a:r>
              <a:rPr lang="en-US" dirty="0" smtClean="0"/>
              <a:t>Search Engine Optimization (SEO) </a:t>
            </a:r>
          </a:p>
          <a:p>
            <a:pPr marL="914400" lvl="1" indent="-514350"/>
            <a:r>
              <a:rPr lang="en-US" dirty="0" smtClean="0"/>
              <a:t>With an increase in the demand of SEO services, job opportunities in the industry are at an all-time high. </a:t>
            </a:r>
          </a:p>
          <a:p>
            <a:pPr marL="914400" lvl="1" indent="-514350"/>
            <a:r>
              <a:rPr lang="en-US" dirty="0" smtClean="0"/>
              <a:t>With a surge in online businesses due to the pandemic, a SEO specialist has turned to be the need of every organization, brands and agencies.</a:t>
            </a:r>
          </a:p>
          <a:p>
            <a:pPr marL="914400" lvl="1" indent="-514350"/>
            <a:r>
              <a:rPr lang="en-US" dirty="0" smtClean="0"/>
              <a:t>You can start your career as a SEO Executive moving forward to SEO Senior Executive/ SEO Strategist, SEO Manager and lastly as a SEO Director. </a:t>
            </a:r>
          </a:p>
          <a:p>
            <a:pPr marL="514350" indent="-514350">
              <a:buAutoNum type="arabicPeriod"/>
            </a:pPr>
            <a:r>
              <a:rPr lang="en-US" dirty="0" smtClean="0"/>
              <a:t>Pay Per Click (PPC) </a:t>
            </a:r>
          </a:p>
          <a:p>
            <a:pPr marL="914400" lvl="1" indent="-514350"/>
            <a:r>
              <a:rPr lang="en-US" dirty="0" smtClean="0"/>
              <a:t>This job role demands an individual to be well-versed in principles of search engine marketing (SEM) including search engine optimization (SEO.) </a:t>
            </a:r>
          </a:p>
          <a:p>
            <a:pPr marL="914400" lvl="1" indent="-514350"/>
            <a:r>
              <a:rPr lang="en-US" dirty="0" smtClean="0"/>
              <a:t>One also needs to be analytical and good with numbers.</a:t>
            </a:r>
          </a:p>
          <a:p>
            <a:pPr marL="914400" lvl="1" indent="-514350"/>
            <a:r>
              <a:rPr lang="en-US" dirty="0" smtClean="0"/>
              <a:t>The end goal of every PPC professional is to turn the online marketing efforts and have the optimal ROI</a:t>
            </a:r>
          </a:p>
          <a:p>
            <a:pPr marL="514350" indent="-514350">
              <a:buAutoNum type="arabicPeriod"/>
            </a:pPr>
            <a:r>
              <a:rPr lang="en-US" dirty="0" smtClean="0"/>
              <a:t>Social Media Marketing (SMM) </a:t>
            </a:r>
          </a:p>
          <a:p>
            <a:pPr marL="914400" lvl="1" indent="-514350"/>
            <a:r>
              <a:rPr lang="en-US" dirty="0" smtClean="0"/>
              <a:t>Behind every social media message there is a human messenger who conveys the company’s views to all its consumers. </a:t>
            </a:r>
          </a:p>
          <a:p>
            <a:pPr marL="914400" lvl="1" indent="-514350"/>
            <a:r>
              <a:rPr lang="en-US" dirty="0" smtClean="0"/>
              <a:t>A Social Media Executive manages all social media channels, campaigns to engage with the right audience creating a loyal customer base.</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Canva</a:t>
            </a:r>
            <a:endParaRPr lang="en-US" dirty="0"/>
          </a:p>
        </p:txBody>
      </p:sp>
      <p:sp>
        <p:nvSpPr>
          <p:cNvPr id="3" name="Content Placeholder 2"/>
          <p:cNvSpPr>
            <a:spLocks noGrp="1"/>
          </p:cNvSpPr>
          <p:nvPr>
            <p:ph idx="1"/>
          </p:nvPr>
        </p:nvSpPr>
        <p:spPr/>
        <p:txBody>
          <a:bodyPr/>
          <a:lstStyle/>
          <a:p>
            <a:pPr>
              <a:buNone/>
            </a:pPr>
            <a:r>
              <a:rPr lang="en-US" dirty="0" err="1" smtClean="0"/>
              <a:t>Canva</a:t>
            </a:r>
            <a:endParaRPr lang="en-US" dirty="0" smtClean="0"/>
          </a:p>
          <a:p>
            <a:r>
              <a:rPr lang="en-US" dirty="0" err="1" smtClean="0"/>
              <a:t>Canva</a:t>
            </a:r>
            <a:r>
              <a:rPr lang="en-US" dirty="0" smtClean="0"/>
              <a:t> is graphics design platform used to create social media graphics, posters, presentations, and visual contents</a:t>
            </a:r>
          </a:p>
          <a:p>
            <a:r>
              <a:rPr lang="en-US" dirty="0" err="1" smtClean="0"/>
              <a:t>Canva</a:t>
            </a:r>
            <a:r>
              <a:rPr lang="en-US" dirty="0" smtClean="0"/>
              <a:t> can be used and accessed from Desktop, Laptop, Android, </a:t>
            </a:r>
            <a:r>
              <a:rPr lang="en-US" dirty="0" err="1" smtClean="0"/>
              <a:t>iPhone</a:t>
            </a:r>
            <a:r>
              <a:rPr lang="en-US" dirty="0" smtClean="0"/>
              <a:t>, etc.,</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 Digital Marketing Trends</a:t>
            </a:r>
            <a:endParaRPr lang="en-US" dirty="0"/>
          </a:p>
        </p:txBody>
      </p:sp>
      <p:sp>
        <p:nvSpPr>
          <p:cNvPr id="3" name="Content Placeholder 2"/>
          <p:cNvSpPr>
            <a:spLocks noGrp="1"/>
          </p:cNvSpPr>
          <p:nvPr>
            <p:ph idx="1"/>
          </p:nvPr>
        </p:nvSpPr>
        <p:spPr/>
        <p:txBody>
          <a:bodyPr>
            <a:noAutofit/>
          </a:bodyPr>
          <a:lstStyle/>
          <a:p>
            <a:r>
              <a:rPr lang="en-US" sz="1800" dirty="0" smtClean="0"/>
              <a:t>Here are the </a:t>
            </a:r>
            <a:r>
              <a:rPr lang="en-US" sz="1800" b="1" dirty="0" smtClean="0"/>
              <a:t>key digital marketing trends shaping 2026</a:t>
            </a:r>
            <a:r>
              <a:rPr lang="en-US" sz="1800" dirty="0" smtClean="0"/>
              <a:t>:</a:t>
            </a:r>
          </a:p>
          <a:p>
            <a:r>
              <a:rPr lang="en-US" sz="1800" b="1" dirty="0" smtClean="0"/>
              <a:t>🚀 Major Shifts in Digital Marketing</a:t>
            </a:r>
          </a:p>
          <a:p>
            <a:r>
              <a:rPr lang="en-US" sz="1800" b="1" dirty="0" smtClean="0"/>
              <a:t>AI-Powered Personalization</a:t>
            </a:r>
            <a:r>
              <a:rPr lang="en-US" sz="1800" dirty="0" smtClean="0"/>
              <a:t/>
            </a:r>
            <a:br>
              <a:rPr lang="en-US" sz="1800" dirty="0" smtClean="0"/>
            </a:br>
            <a:r>
              <a:rPr lang="en-US" sz="1800" dirty="0" smtClean="0"/>
              <a:t>Brands are using advanced AI to deliver hyper-personalized content, product recommendations, and customer experiences at scale.</a:t>
            </a:r>
          </a:p>
          <a:p>
            <a:r>
              <a:rPr lang="en-US" sz="1800" b="1" dirty="0" smtClean="0"/>
              <a:t>Algorithm-Driven Marketing</a:t>
            </a:r>
            <a:r>
              <a:rPr lang="en-US" sz="1800" dirty="0" smtClean="0"/>
              <a:t/>
            </a:r>
            <a:br>
              <a:rPr lang="en-US" sz="1800" dirty="0" smtClean="0"/>
            </a:br>
            <a:r>
              <a:rPr lang="en-US" sz="1800" dirty="0" smtClean="0"/>
              <a:t>Social platforms and search engines are increasingly relying on evolving algorithms, making adaptability and real-time optimization essential.</a:t>
            </a:r>
          </a:p>
          <a:p>
            <a:r>
              <a:rPr lang="en-US" sz="1800" b="1" dirty="0" smtClean="0"/>
              <a:t>Authenticity &amp; Trust</a:t>
            </a:r>
            <a:r>
              <a:rPr lang="en-US" sz="1800" dirty="0" smtClean="0"/>
              <a:t/>
            </a:r>
            <a:br>
              <a:rPr lang="en-US" sz="1800" dirty="0" smtClean="0"/>
            </a:br>
            <a:r>
              <a:rPr lang="en-US" sz="1800" dirty="0" smtClean="0"/>
              <a:t>Consumers are gravitating toward brands that emphasize transparency, ethical practices, and genuine storytelling.</a:t>
            </a:r>
          </a:p>
          <a:p>
            <a:r>
              <a:rPr lang="en-US" sz="1800" b="1" dirty="0" smtClean="0"/>
              <a:t>Voice &amp; Conversational Search</a:t>
            </a:r>
            <a:r>
              <a:rPr lang="en-US" sz="1800" dirty="0" smtClean="0"/>
              <a:t/>
            </a:r>
            <a:br>
              <a:rPr lang="en-US" sz="1800" dirty="0" smtClean="0"/>
            </a:br>
            <a:r>
              <a:rPr lang="en-US" sz="1800" dirty="0" smtClean="0"/>
              <a:t>With smart assistants and voice-enabled devices, optimizing for conversational queries is becoming a priority.</a:t>
            </a:r>
          </a:p>
          <a:p>
            <a:r>
              <a:rPr lang="en-US" sz="1800" b="1" dirty="0" smtClean="0"/>
              <a:t>Immersive Experiences (AR/VR)</a:t>
            </a:r>
            <a:r>
              <a:rPr lang="en-US" sz="1800" dirty="0" smtClean="0"/>
              <a:t/>
            </a:r>
            <a:br>
              <a:rPr lang="en-US" sz="1800" dirty="0" smtClean="0"/>
            </a:br>
            <a:r>
              <a:rPr lang="en-US" sz="1800" dirty="0" smtClean="0"/>
              <a:t>Augmented and virtual reality are being integrated into campaigns, especially in retail and entertainment, to create interactive brand experiences.</a:t>
            </a:r>
          </a:p>
          <a:p>
            <a:r>
              <a:rPr lang="en-US" sz="1800" b="1" dirty="0" smtClean="0"/>
              <a:t>Short-Form Video Dominance</a:t>
            </a:r>
            <a:r>
              <a:rPr lang="en-US" sz="1800" dirty="0" smtClean="0"/>
              <a:t/>
            </a:r>
            <a:br>
              <a:rPr lang="en-US" sz="1800" dirty="0" smtClean="0"/>
            </a:br>
            <a:r>
              <a:rPr lang="en-US" sz="1800" dirty="0" err="1" smtClean="0"/>
              <a:t>TikTok</a:t>
            </a:r>
            <a:r>
              <a:rPr lang="en-US" sz="1800" dirty="0" smtClean="0"/>
              <a:t>, </a:t>
            </a:r>
            <a:r>
              <a:rPr lang="en-US" sz="1800" dirty="0" err="1" smtClean="0"/>
              <a:t>Instagram</a:t>
            </a:r>
            <a:r>
              <a:rPr lang="en-US" sz="1800" dirty="0" smtClean="0"/>
              <a:t> Reels, and YouTube Shorts continue to lead, with brands investing heavily in </a:t>
            </a:r>
            <a:r>
              <a:rPr lang="en-US" sz="1800" dirty="0" err="1" smtClean="0"/>
              <a:t>snackable</a:t>
            </a:r>
            <a:r>
              <a:rPr lang="en-US" sz="1800" dirty="0" smtClean="0"/>
              <a:t> video content.</a:t>
            </a:r>
          </a:p>
          <a:p>
            <a:r>
              <a:rPr lang="en-US" sz="1800" b="1" dirty="0" smtClean="0"/>
              <a:t>Sustainability Marketing</a:t>
            </a:r>
            <a:r>
              <a:rPr lang="en-US" sz="1800" dirty="0" smtClean="0"/>
              <a:t/>
            </a:r>
            <a:br>
              <a:rPr lang="en-US" sz="1800" dirty="0" smtClean="0"/>
            </a:br>
            <a:r>
              <a:rPr lang="en-US" sz="1800" dirty="0" smtClean="0"/>
              <a:t>Eco-conscious messaging and green initiatives are becoming central to brand positioning as consumers demand responsibility.</a:t>
            </a:r>
          </a:p>
          <a:p>
            <a:r>
              <a:rPr lang="en-US" sz="1800" b="1" dirty="0" smtClean="0"/>
              <a:t>Data Privacy &amp; Ethical AI</a:t>
            </a:r>
            <a:r>
              <a:rPr lang="en-US" sz="1800" dirty="0" smtClean="0"/>
              <a:t/>
            </a:r>
            <a:br>
              <a:rPr lang="en-US" sz="1800" dirty="0" smtClean="0"/>
            </a:br>
            <a:r>
              <a:rPr lang="en-US" sz="1800" dirty="0" smtClean="0"/>
              <a:t>With stricter regulations, brands must balance personalization with consumer privacy, ensuring ethical use of data.</a:t>
            </a:r>
          </a:p>
          <a:p>
            <a:r>
              <a:rPr lang="en-US" sz="1800" b="1" dirty="0" smtClean="0"/>
              <a:t>📊 Quick Comparison of Trends</a:t>
            </a:r>
          </a:p>
          <a:p>
            <a:r>
              <a:rPr lang="en-US" sz="1800" dirty="0" smtClean="0"/>
              <a:t>Trend Impact on Brands Consumer Expectation AI Personalization Higher engagement &amp; conversions Relevant, tailored experiences Authenticity &amp; Trust Stronger loyalty Transparency &amp; honesty Short-Form Video Viral reach &amp; visibility Entertaining, quick content AR/VR Experiences Differentiation Immersive shopping/interaction Sustainability Marketing Positive brand image Eco-friendly values Data Privacy Focus Compliance &amp; trust Respect for personal data Would you like me to </a:t>
            </a:r>
            <a:r>
              <a:rPr lang="en-US" sz="1800" b="1" dirty="0" smtClean="0"/>
              <a:t>zoom in on practical strategies</a:t>
            </a:r>
            <a:r>
              <a:rPr lang="en-US" sz="1800" dirty="0" smtClean="0"/>
              <a:t> (e.g., how small businesses can apply these trends cost-effectively), or would you prefer a </a:t>
            </a:r>
            <a:r>
              <a:rPr lang="en-US" sz="1800" b="1" dirty="0" smtClean="0"/>
              <a:t>deep dive into one specific trend</a:t>
            </a:r>
            <a:r>
              <a:rPr lang="en-US" sz="1800" dirty="0" smtClean="0"/>
              <a:t> like AI personalization or short-form video?</a:t>
            </a:r>
          </a:p>
          <a:p>
            <a:endParaRPr lang="en-US" sz="18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 Digital Marketing Trends</a:t>
            </a:r>
            <a:endParaRPr lang="en-US" dirty="0"/>
          </a:p>
        </p:txBody>
      </p:sp>
      <p:sp>
        <p:nvSpPr>
          <p:cNvPr id="3" name="Content Placeholder 2"/>
          <p:cNvSpPr>
            <a:spLocks noGrp="1"/>
          </p:cNvSpPr>
          <p:nvPr>
            <p:ph idx="1"/>
          </p:nvPr>
        </p:nvSpPr>
        <p:spPr/>
        <p:txBody>
          <a:bodyPr>
            <a:noAutofit/>
          </a:bodyPr>
          <a:lstStyle/>
          <a:p>
            <a:r>
              <a:rPr lang="en-US" sz="1800" dirty="0" smtClean="0"/>
              <a:t>Is the following still valid? Website Marketing Pay-Per-Click (PPC) Marketing Search Engine Optimization (SEO) Search Engine Marketing (SEM) Social Media Marketing (SMM) Content Marketing Email Marketing Affiliate Marketing Video Marketing SMS </a:t>
            </a:r>
            <a:r>
              <a:rPr lang="en-US" sz="1800" dirty="0" err="1" smtClean="0"/>
              <a:t>Messagin</a:t>
            </a:r>
            <a:endParaRPr lang="en-US" sz="1800" dirty="0" smtClean="0"/>
          </a:p>
          <a:p>
            <a:r>
              <a:rPr lang="en-US" sz="1800" dirty="0" smtClean="0"/>
              <a:t>Yes — all the channels you listed are </a:t>
            </a:r>
            <a:r>
              <a:rPr lang="en-US" sz="1800" b="1" dirty="0" smtClean="0"/>
              <a:t>still valid in 2026</a:t>
            </a:r>
            <a:r>
              <a:rPr lang="en-US" sz="1800" dirty="0" smtClean="0"/>
              <a:t>, but their role and effectiveness have evolved. Here’s a breakdown:</a:t>
            </a:r>
          </a:p>
          <a:p>
            <a:r>
              <a:rPr lang="en-US" sz="1800" b="1" dirty="0" smtClean="0"/>
              <a:t>✅ Still Core &amp; Effective</a:t>
            </a:r>
          </a:p>
          <a:p>
            <a:r>
              <a:rPr lang="en-US" sz="1800" b="1" dirty="0" smtClean="0"/>
              <a:t>Website Marketing</a:t>
            </a:r>
            <a:r>
              <a:rPr lang="en-US" sz="1800" dirty="0" smtClean="0"/>
              <a:t> – Your website remains the hub of digital presence. Now, speed, accessibility, and AI-driven personalization are critical.</a:t>
            </a:r>
          </a:p>
          <a:p>
            <a:r>
              <a:rPr lang="en-US" sz="1800" b="1" dirty="0" smtClean="0"/>
              <a:t>SEO (Search Engine Optimization)</a:t>
            </a:r>
            <a:r>
              <a:rPr lang="en-US" sz="1800" dirty="0" smtClean="0"/>
              <a:t> – Still essential, but now includes </a:t>
            </a:r>
            <a:r>
              <a:rPr lang="en-US" sz="1800" b="1" dirty="0" smtClean="0"/>
              <a:t>voice search, multimodal search (text + image + video), and AI-driven ranking factors</a:t>
            </a:r>
            <a:r>
              <a:rPr lang="en-US" sz="1800" dirty="0" smtClean="0"/>
              <a:t>.</a:t>
            </a:r>
          </a:p>
          <a:p>
            <a:r>
              <a:rPr lang="en-US" sz="1800" b="1" dirty="0" smtClean="0"/>
              <a:t>SEM (Search Engine Marketing)</a:t>
            </a:r>
            <a:r>
              <a:rPr lang="en-US" sz="1800" dirty="0" smtClean="0"/>
              <a:t> – Paid search continues to deliver ROI, though costs are rising due to competition.</a:t>
            </a:r>
          </a:p>
          <a:p>
            <a:r>
              <a:rPr lang="en-US" sz="1800" b="1" dirty="0" smtClean="0"/>
              <a:t>Social Media Marketing (SMM)</a:t>
            </a:r>
            <a:r>
              <a:rPr lang="en-US" sz="1800" dirty="0" smtClean="0"/>
              <a:t> – Stronger than ever, especially with </a:t>
            </a:r>
            <a:r>
              <a:rPr lang="en-US" sz="1800" b="1" dirty="0" smtClean="0"/>
              <a:t>social commerce</a:t>
            </a:r>
            <a:r>
              <a:rPr lang="en-US" sz="1800" dirty="0" smtClean="0"/>
              <a:t> (shopping directly inside platforms).</a:t>
            </a:r>
          </a:p>
          <a:p>
            <a:r>
              <a:rPr lang="en-US" sz="1800" b="1" dirty="0" smtClean="0"/>
              <a:t>Content Marketing</a:t>
            </a:r>
            <a:r>
              <a:rPr lang="en-US" sz="1800" dirty="0" smtClean="0"/>
              <a:t> – Still a backbone, but now includes </a:t>
            </a:r>
            <a:r>
              <a:rPr lang="en-US" sz="1800" b="1" dirty="0" smtClean="0"/>
              <a:t>interactive, AI-generated, and immersive formats (AR/VR)</a:t>
            </a:r>
            <a:r>
              <a:rPr lang="en-US" sz="1800" dirty="0" smtClean="0"/>
              <a:t>.</a:t>
            </a:r>
          </a:p>
          <a:p>
            <a:r>
              <a:rPr lang="en-US" sz="1800" b="1" dirty="0" smtClean="0"/>
              <a:t>Email Marketing</a:t>
            </a:r>
            <a:r>
              <a:rPr lang="en-US" sz="1800" dirty="0" smtClean="0"/>
              <a:t> – More powerful with </a:t>
            </a:r>
            <a:r>
              <a:rPr lang="en-US" sz="1800" b="1" dirty="0" smtClean="0"/>
              <a:t>real-time personalization and automation</a:t>
            </a:r>
            <a:r>
              <a:rPr lang="en-US" sz="1800" dirty="0" smtClean="0"/>
              <a:t>.</a:t>
            </a:r>
          </a:p>
          <a:p>
            <a:r>
              <a:rPr lang="en-US" sz="1800" b="1" dirty="0" smtClean="0"/>
              <a:t>⚡ Evolving but Still Relevant</a:t>
            </a:r>
          </a:p>
          <a:p>
            <a:r>
              <a:rPr lang="en-US" sz="1800" b="1" dirty="0" smtClean="0"/>
              <a:t>Pay-Per-Click (PPC)</a:t>
            </a:r>
            <a:r>
              <a:rPr lang="en-US" sz="1800" dirty="0" smtClean="0"/>
              <a:t> – Effective, but higher CPMs mean you need smarter targeting and AI optimization.</a:t>
            </a:r>
          </a:p>
          <a:p>
            <a:r>
              <a:rPr lang="en-US" sz="1800" b="1" dirty="0" smtClean="0"/>
              <a:t>Affiliate Marketing</a:t>
            </a:r>
            <a:r>
              <a:rPr lang="en-US" sz="1800" dirty="0" smtClean="0"/>
              <a:t> – Still valid, but now integrated with influencer marketing and social commerce ecosystems.</a:t>
            </a:r>
          </a:p>
          <a:p>
            <a:r>
              <a:rPr lang="en-US" sz="1800" b="1" dirty="0" smtClean="0"/>
              <a:t>Video Marketing</a:t>
            </a:r>
            <a:r>
              <a:rPr lang="en-US" sz="1800" dirty="0" smtClean="0"/>
              <a:t> – Dominant, especially short-form (</a:t>
            </a:r>
            <a:r>
              <a:rPr lang="en-US" sz="1800" dirty="0" err="1" smtClean="0"/>
              <a:t>TikTok</a:t>
            </a:r>
            <a:r>
              <a:rPr lang="en-US" sz="1800" dirty="0" smtClean="0"/>
              <a:t>, Reels, Shorts). Live streaming and </a:t>
            </a:r>
            <a:r>
              <a:rPr lang="en-US" sz="1800" dirty="0" err="1" smtClean="0"/>
              <a:t>shoppable</a:t>
            </a:r>
            <a:r>
              <a:rPr lang="en-US" sz="1800" dirty="0" smtClean="0"/>
              <a:t> video are growing.</a:t>
            </a:r>
          </a:p>
          <a:p>
            <a:r>
              <a:rPr lang="en-US" sz="1800" b="1" dirty="0" smtClean="0"/>
              <a:t>SMS Messaging</a:t>
            </a:r>
            <a:r>
              <a:rPr lang="en-US" sz="1800" dirty="0" smtClean="0"/>
              <a:t> – Still useful for direct engagement, but now often combined with </a:t>
            </a:r>
            <a:r>
              <a:rPr lang="en-US" sz="1800" b="1" dirty="0" err="1" smtClean="0"/>
              <a:t>WhatsApp</a:t>
            </a:r>
            <a:r>
              <a:rPr lang="en-US" sz="1800" b="1" dirty="0" smtClean="0"/>
              <a:t>, Messenger, and push notifications</a:t>
            </a:r>
            <a:r>
              <a:rPr lang="en-US" sz="1800" dirty="0" smtClean="0"/>
              <a:t> for </a:t>
            </a:r>
            <a:r>
              <a:rPr lang="en-US" sz="1800" dirty="0" err="1" smtClean="0"/>
              <a:t>omnichannel</a:t>
            </a:r>
            <a:r>
              <a:rPr lang="en-US" sz="1800" dirty="0" smtClean="0"/>
              <a:t> reach.</a:t>
            </a:r>
          </a:p>
          <a:p>
            <a:r>
              <a:rPr lang="en-US" sz="1800" b="1" dirty="0" smtClean="0"/>
              <a:t>📊 Quick View</a:t>
            </a:r>
          </a:p>
          <a:p>
            <a:r>
              <a:rPr lang="en-US" sz="1800" dirty="0" smtClean="0"/>
              <a:t>Channel 2026 Status Key Evolution Website Marketing Core AI personalization, UX focus SEO Core Voice &amp; multimodal search SEM Core Rising costs, smarter targeting SMM Core Social commerce integration Content Marketing Core Interactive &amp; immersive formats Email Marketing Core Real-time personalization PPC Evolving AI-driven optimization Affiliate Marketing Evolving Influencer + social commerce Video Marketing Core Short-form &amp; </a:t>
            </a:r>
            <a:r>
              <a:rPr lang="en-US" sz="1800" dirty="0" err="1" smtClean="0"/>
              <a:t>shoppable</a:t>
            </a:r>
            <a:r>
              <a:rPr lang="en-US" sz="1800" dirty="0" smtClean="0"/>
              <a:t> video SMS Messaging Evolving Integrated with chat apps So yes — your list is still valid, but the </a:t>
            </a:r>
            <a:r>
              <a:rPr lang="en-US" sz="1800" b="1" dirty="0" smtClean="0"/>
              <a:t>execution methods have shifted</a:t>
            </a:r>
            <a:r>
              <a:rPr lang="en-US" sz="1800" dirty="0" smtClean="0"/>
              <a:t>. The big difference in 2026 is that </a:t>
            </a:r>
            <a:r>
              <a:rPr lang="en-US" sz="1800" b="1" dirty="0" smtClean="0"/>
              <a:t>AI, personalization, and </a:t>
            </a:r>
            <a:r>
              <a:rPr lang="en-US" sz="1800" b="1" dirty="0" err="1" smtClean="0"/>
              <a:t>omnichannel</a:t>
            </a:r>
            <a:r>
              <a:rPr lang="en-US" sz="1800" b="1" dirty="0" smtClean="0"/>
              <a:t> integration</a:t>
            </a:r>
            <a:r>
              <a:rPr lang="en-US" sz="1800" dirty="0" smtClean="0"/>
              <a:t> are now non-negotiable across all these channels.</a:t>
            </a:r>
          </a:p>
          <a:p>
            <a:r>
              <a:rPr lang="en-US" sz="1800" dirty="0" smtClean="0"/>
              <a:t>Would you like me to show you </a:t>
            </a:r>
            <a:r>
              <a:rPr lang="en-US" sz="1800" b="1" dirty="0" smtClean="0"/>
              <a:t>which of these channels deliver the highest ROI today</a:t>
            </a:r>
            <a:r>
              <a:rPr lang="en-US" sz="1800" dirty="0" smtClean="0"/>
              <a:t> so you can prioritize them, rather than spreading effort across all?</a:t>
            </a:r>
          </a:p>
          <a:p>
            <a:endParaRPr lang="en-US" sz="1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Notes: Digital Marketing Trends</a:t>
            </a:r>
            <a:endParaRPr lang="en-US" dirty="0"/>
          </a:p>
        </p:txBody>
      </p:sp>
      <p:sp>
        <p:nvSpPr>
          <p:cNvPr id="3" name="Content Placeholder 2"/>
          <p:cNvSpPr>
            <a:spLocks noGrp="1"/>
          </p:cNvSpPr>
          <p:nvPr>
            <p:ph idx="1"/>
          </p:nvPr>
        </p:nvSpPr>
        <p:spPr/>
        <p:txBody>
          <a:bodyPr>
            <a:noAutofit/>
          </a:bodyPr>
          <a:lstStyle/>
          <a:p>
            <a:r>
              <a:rPr lang="en-US" sz="1800" dirty="0" smtClean="0"/>
              <a:t>Here’s what the latest data shows about </a:t>
            </a:r>
            <a:r>
              <a:rPr lang="en-US" sz="1800" b="1" dirty="0" smtClean="0"/>
              <a:t>which digital marketing channels deliver the highest ROI in 2026</a:t>
            </a:r>
            <a:r>
              <a:rPr lang="en-US" sz="1800" dirty="0" smtClean="0"/>
              <a:t>:</a:t>
            </a:r>
          </a:p>
          <a:p>
            <a:r>
              <a:rPr lang="en-US" sz="1800" b="1" dirty="0" smtClean="0"/>
              <a:t>📈 Top ROI Channels</a:t>
            </a:r>
          </a:p>
          <a:p>
            <a:r>
              <a:rPr lang="en-US" sz="1800" b="1" dirty="0" smtClean="0"/>
              <a:t>Email Marketing</a:t>
            </a:r>
            <a:r>
              <a:rPr lang="en-US" sz="1800" dirty="0" smtClean="0"/>
              <a:t> – Still the most cost-effective, with automation and personalization driving strong conversions.</a:t>
            </a:r>
          </a:p>
          <a:p>
            <a:r>
              <a:rPr lang="en-US" sz="1800" b="1" dirty="0" smtClean="0"/>
              <a:t>Content Marketing (blogs, guides, interactive content)</a:t>
            </a:r>
            <a:r>
              <a:rPr lang="en-US" sz="1800" dirty="0" smtClean="0"/>
              <a:t> – Builds long-term SEO value and brand authority.</a:t>
            </a:r>
          </a:p>
          <a:p>
            <a:r>
              <a:rPr lang="en-US" sz="1800" b="1" dirty="0" smtClean="0"/>
              <a:t>SEO (Search Engine Optimization)</a:t>
            </a:r>
            <a:r>
              <a:rPr lang="en-US" sz="1800" dirty="0" smtClean="0"/>
              <a:t> – High ROI because organic traffic compounds over time; now includes voice and multimodal search.</a:t>
            </a:r>
          </a:p>
          <a:p>
            <a:r>
              <a:rPr lang="en-US" sz="1800" b="1" dirty="0" smtClean="0"/>
              <a:t>Social Media Marketing (SMM)</a:t>
            </a:r>
            <a:r>
              <a:rPr lang="en-US" sz="1800" dirty="0" smtClean="0"/>
              <a:t> – Especially effective when tied to </a:t>
            </a:r>
            <a:r>
              <a:rPr lang="en-US" sz="1800" b="1" dirty="0" smtClean="0"/>
              <a:t>social commerce</a:t>
            </a:r>
            <a:r>
              <a:rPr lang="en-US" sz="1800" dirty="0" smtClean="0"/>
              <a:t> and influencer partnerships.</a:t>
            </a:r>
          </a:p>
          <a:p>
            <a:r>
              <a:rPr lang="en-US" sz="1800" b="1" dirty="0" smtClean="0"/>
              <a:t>Video Marketing</a:t>
            </a:r>
            <a:r>
              <a:rPr lang="en-US" sz="1800" dirty="0" smtClean="0"/>
              <a:t> – Short-form video (</a:t>
            </a:r>
            <a:r>
              <a:rPr lang="en-US" sz="1800" dirty="0" err="1" smtClean="0"/>
              <a:t>TikTok</a:t>
            </a:r>
            <a:r>
              <a:rPr lang="en-US" sz="1800" dirty="0" smtClean="0"/>
              <a:t>, Reels, Shorts) and </a:t>
            </a:r>
            <a:r>
              <a:rPr lang="en-US" sz="1800" dirty="0" err="1" smtClean="0"/>
              <a:t>shoppable</a:t>
            </a:r>
            <a:r>
              <a:rPr lang="en-US" sz="1800" dirty="0" smtClean="0"/>
              <a:t> video are leading engagement.</a:t>
            </a:r>
          </a:p>
          <a:p>
            <a:r>
              <a:rPr lang="en-US" sz="1800" b="1" dirty="0" smtClean="0"/>
              <a:t>Affiliate + Influencer Marketing</a:t>
            </a:r>
            <a:r>
              <a:rPr lang="en-US" sz="1800" dirty="0" smtClean="0"/>
              <a:t> – ROI is strong when integrated with niche communities and social platforms.</a:t>
            </a:r>
          </a:p>
          <a:p>
            <a:r>
              <a:rPr lang="en-US" sz="1800" b="1" dirty="0" smtClean="0"/>
              <a:t>SMS &amp; Messaging Apps</a:t>
            </a:r>
            <a:r>
              <a:rPr lang="en-US" sz="1800" dirty="0" smtClean="0"/>
              <a:t> – Direct, high open rates, especially when combined with </a:t>
            </a:r>
            <a:r>
              <a:rPr lang="en-US" sz="1800" dirty="0" err="1" smtClean="0"/>
              <a:t>WhatsApp</a:t>
            </a:r>
            <a:r>
              <a:rPr lang="en-US" sz="1800" dirty="0" smtClean="0"/>
              <a:t>/Telegram campaigns.</a:t>
            </a:r>
          </a:p>
          <a:p>
            <a:r>
              <a:rPr lang="en-US" sz="1800" b="1" dirty="0" smtClean="0"/>
              <a:t>⚡ ROI Comparison Snapshot</a:t>
            </a:r>
          </a:p>
          <a:p>
            <a:r>
              <a:rPr lang="en-US" sz="1800" dirty="0" smtClean="0"/>
              <a:t>Channel ROI Strength (2026) Key Advantage Email Marketing ⭐⭐⭐⭐⭐ Low cost, high personalization SEO ⭐⭐⭐⭐⭐ Compounding organic traffic Content Marketing ⭐⭐⭐⭐ Builds trust &amp; authority Social Media ⭐⭐⭐⭐ Social commerce + influencer reach Video Marketing ⭐⭐⭐⭐ High engagement, viral potential Affiliate Marketing ⭐⭐⭐ Expands reach via partners SMS/Messaging Apps ⭐⭐⭐ Direct, high open rates 👉 In short: </a:t>
            </a:r>
            <a:r>
              <a:rPr lang="en-US" sz="1800" b="1" dirty="0" smtClean="0"/>
              <a:t>Email, SEO, and content marketing remain the ROI kings</a:t>
            </a:r>
            <a:r>
              <a:rPr lang="en-US" sz="1800" dirty="0" smtClean="0"/>
              <a:t>, while </a:t>
            </a:r>
            <a:r>
              <a:rPr lang="en-US" sz="1800" b="1" dirty="0" smtClean="0"/>
              <a:t>video and social commerce</a:t>
            </a:r>
            <a:r>
              <a:rPr lang="en-US" sz="1800" dirty="0" smtClean="0"/>
              <a:t> are the fastest-growing.</a:t>
            </a:r>
          </a:p>
          <a:p>
            <a:r>
              <a:rPr lang="en-US" sz="1800" dirty="0" smtClean="0"/>
              <a:t>Would you like me to create a </a:t>
            </a:r>
            <a:r>
              <a:rPr lang="en-US" sz="1800" b="1" dirty="0" smtClean="0"/>
              <a:t>priority roadmap</a:t>
            </a:r>
            <a:r>
              <a:rPr lang="en-US" sz="1800" dirty="0" smtClean="0"/>
              <a:t> showing how a business should allocate budget across these channels in 2026?</a:t>
            </a:r>
          </a:p>
          <a:p>
            <a:endParaRPr lang="en-US" sz="1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6460</Words>
  <Application>Microsoft Office PowerPoint</Application>
  <PresentationFormat>On-screen Show (4:3)</PresentationFormat>
  <Paragraphs>341</Paragraphs>
  <Slides>25</Slides>
  <Notes>11</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Digital Marketing</vt:lpstr>
      <vt:lpstr>Marketing</vt:lpstr>
      <vt:lpstr>Different between traditional Marketing ad Digital Marketing</vt:lpstr>
      <vt:lpstr>DIGITAL MARKETING</vt:lpstr>
      <vt:lpstr>Types of Digital Marketing</vt:lpstr>
      <vt:lpstr>Digital Marketing Characteristics</vt:lpstr>
      <vt:lpstr>Digital Marketing Trends </vt:lpstr>
      <vt:lpstr>Search Engine Based Marketing </vt:lpstr>
      <vt:lpstr>SEO Process</vt:lpstr>
      <vt:lpstr>Pay-Per-Click (PPC)</vt:lpstr>
      <vt:lpstr>E-Mail Marketing</vt:lpstr>
      <vt:lpstr>Setting Up an E-Mail Marketing Campaign</vt:lpstr>
      <vt:lpstr>Mobile Marketing</vt:lpstr>
      <vt:lpstr>Types of Mobile Marketing Strategies</vt:lpstr>
      <vt:lpstr>Social Media Marketing </vt:lpstr>
      <vt:lpstr>Social Media Marketing</vt:lpstr>
      <vt:lpstr>Social Media Marketing</vt:lpstr>
      <vt:lpstr>Customer Relationship Management</vt:lpstr>
      <vt:lpstr>DIGITAL MARKETING STRATERGY </vt:lpstr>
      <vt:lpstr>App Store Optimization (ASO)</vt:lpstr>
      <vt:lpstr>Career options in digital marketing</vt:lpstr>
      <vt:lpstr>Canva</vt:lpstr>
      <vt:lpstr>Notes: Digital Marketing Trends</vt:lpstr>
      <vt:lpstr>Notes: Digital Marketing Trends</vt:lpstr>
      <vt:lpstr>Notes: Digital Marketing Trends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dc:title>
  <dc:creator>CSC</dc:creator>
  <cp:lastModifiedBy>admin</cp:lastModifiedBy>
  <cp:revision>55</cp:revision>
  <dcterms:created xsi:type="dcterms:W3CDTF">2006-08-16T00:00:00Z</dcterms:created>
  <dcterms:modified xsi:type="dcterms:W3CDTF">2026-02-20T04:56:37Z</dcterms:modified>
</cp:coreProperties>
</file>